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1"/>
  </p:notesMasterIdLst>
  <p:sldIdLst>
    <p:sldId id="256" r:id="rId2"/>
    <p:sldId id="318" r:id="rId3"/>
    <p:sldId id="263" r:id="rId4"/>
    <p:sldId id="290" r:id="rId5"/>
    <p:sldId id="291" r:id="rId6"/>
    <p:sldId id="292" r:id="rId7"/>
    <p:sldId id="293" r:id="rId8"/>
    <p:sldId id="299" r:id="rId9"/>
    <p:sldId id="265" r:id="rId10"/>
    <p:sldId id="310" r:id="rId11"/>
    <p:sldId id="266" r:id="rId12"/>
    <p:sldId id="312" r:id="rId13"/>
    <p:sldId id="283" r:id="rId14"/>
    <p:sldId id="287" r:id="rId15"/>
    <p:sldId id="294" r:id="rId16"/>
    <p:sldId id="298" r:id="rId17"/>
    <p:sldId id="295" r:id="rId18"/>
    <p:sldId id="296" r:id="rId19"/>
    <p:sldId id="297" r:id="rId20"/>
    <p:sldId id="267" r:id="rId21"/>
    <p:sldId id="311" r:id="rId22"/>
    <p:sldId id="321" r:id="rId23"/>
    <p:sldId id="268" r:id="rId24"/>
    <p:sldId id="269" r:id="rId25"/>
    <p:sldId id="285" r:id="rId26"/>
    <p:sldId id="313" r:id="rId27"/>
    <p:sldId id="322" r:id="rId28"/>
    <p:sldId id="270" r:id="rId29"/>
    <p:sldId id="275" r:id="rId30"/>
    <p:sldId id="274" r:id="rId31"/>
    <p:sldId id="271" r:id="rId32"/>
    <p:sldId id="302" r:id="rId33"/>
    <p:sldId id="309" r:id="rId34"/>
    <p:sldId id="300" r:id="rId35"/>
    <p:sldId id="301" r:id="rId36"/>
    <p:sldId id="303" r:id="rId37"/>
    <p:sldId id="273" r:id="rId38"/>
    <p:sldId id="272" r:id="rId39"/>
    <p:sldId id="304" r:id="rId40"/>
    <p:sldId id="305" r:id="rId41"/>
    <p:sldId id="306" r:id="rId42"/>
    <p:sldId id="288" r:id="rId43"/>
    <p:sldId id="316" r:id="rId44"/>
    <p:sldId id="319" r:id="rId45"/>
    <p:sldId id="278" r:id="rId46"/>
    <p:sldId id="276" r:id="rId47"/>
    <p:sldId id="289" r:id="rId48"/>
    <p:sldId id="286" r:id="rId49"/>
    <p:sldId id="317" r:id="rId50"/>
    <p:sldId id="277" r:id="rId51"/>
    <p:sldId id="279" r:id="rId52"/>
    <p:sldId id="308" r:id="rId53"/>
    <p:sldId id="280" r:id="rId54"/>
    <p:sldId id="315" r:id="rId55"/>
    <p:sldId id="320" r:id="rId56"/>
    <p:sldId id="281" r:id="rId57"/>
    <p:sldId id="284" r:id="rId58"/>
    <p:sldId id="282" r:id="rId59"/>
    <p:sldId id="314" r:id="rId60"/>
  </p:sldIdLst>
  <p:sldSz cx="12192000" cy="6858000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ia" initials="T" lastIdx="5" clrIdx="0">
    <p:extLst>
      <p:ext uri="{19B8F6BF-5375-455C-9EA6-DF929625EA0E}">
        <p15:presenceInfo xmlns:p15="http://schemas.microsoft.com/office/powerpoint/2012/main" userId="Tan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31025-1CBA-4CB5-8CA4-ED0AE8D1598C}" v="1" dt="2024-02-15T15:09:07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2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Gurtner" userId="7cddb92f0f81b20b" providerId="LiveId" clId="{9045FCEE-E1B8-4EC9-80E7-53804DA281C6}"/>
    <pc:docChg chg="custSel modSld">
      <pc:chgData name="Nicolas Gurtner" userId="7cddb92f0f81b20b" providerId="LiveId" clId="{9045FCEE-E1B8-4EC9-80E7-53804DA281C6}" dt="2023-11-16T14:28:17.577" v="7" actId="20577"/>
      <pc:docMkLst>
        <pc:docMk/>
      </pc:docMkLst>
      <pc:sldChg chg="modSp mod">
        <pc:chgData name="Nicolas Gurtner" userId="7cddb92f0f81b20b" providerId="LiveId" clId="{9045FCEE-E1B8-4EC9-80E7-53804DA281C6}" dt="2023-11-16T14:28:17.577" v="7" actId="20577"/>
        <pc:sldMkLst>
          <pc:docMk/>
          <pc:sldMk cId="1353818330" sldId="288"/>
        </pc:sldMkLst>
        <pc:spChg chg="mod">
          <ac:chgData name="Nicolas Gurtner" userId="7cddb92f0f81b20b" providerId="LiveId" clId="{9045FCEE-E1B8-4EC9-80E7-53804DA281C6}" dt="2023-11-16T14:28:17.577" v="7" actId="20577"/>
          <ac:spMkLst>
            <pc:docMk/>
            <pc:sldMk cId="1353818330" sldId="288"/>
            <ac:spMk id="3" creationId="{42949A10-B759-494D-AA19-042AD2D25713}"/>
          </ac:spMkLst>
        </pc:spChg>
      </pc:sldChg>
      <pc:sldChg chg="modSp mod">
        <pc:chgData name="Nicolas Gurtner" userId="7cddb92f0f81b20b" providerId="LiveId" clId="{9045FCEE-E1B8-4EC9-80E7-53804DA281C6}" dt="2023-11-16T14:26:04.390" v="4" actId="20577"/>
        <pc:sldMkLst>
          <pc:docMk/>
          <pc:sldMk cId="3611231379" sldId="309"/>
        </pc:sldMkLst>
        <pc:spChg chg="mod">
          <ac:chgData name="Nicolas Gurtner" userId="7cddb92f0f81b20b" providerId="LiveId" clId="{9045FCEE-E1B8-4EC9-80E7-53804DA281C6}" dt="2023-11-16T14:26:04.390" v="4" actId="20577"/>
          <ac:spMkLst>
            <pc:docMk/>
            <pc:sldMk cId="3611231379" sldId="309"/>
            <ac:spMk id="3" creationId="{1E656ECD-33E9-4282-8624-662914149850}"/>
          </ac:spMkLst>
        </pc:spChg>
      </pc:sldChg>
    </pc:docChg>
  </pc:docChgLst>
  <pc:docChgLst>
    <pc:chgData name="Nicolas Gurtner" userId="7cddb92f0f81b20b" providerId="LiveId" clId="{D41BC7BF-A967-4900-B00E-B8992BF30A4B}"/>
    <pc:docChg chg="undo custSel modSld">
      <pc:chgData name="Nicolas Gurtner" userId="7cddb92f0f81b20b" providerId="LiveId" clId="{D41BC7BF-A967-4900-B00E-B8992BF30A4B}" dt="2023-02-06T14:38:21.208" v="89" actId="20577"/>
      <pc:docMkLst>
        <pc:docMk/>
      </pc:docMkLst>
      <pc:sldChg chg="modSp mod">
        <pc:chgData name="Nicolas Gurtner" userId="7cddb92f0f81b20b" providerId="LiveId" clId="{D41BC7BF-A967-4900-B00E-B8992BF30A4B}" dt="2023-02-06T14:38:21.208" v="89" actId="20577"/>
        <pc:sldMkLst>
          <pc:docMk/>
          <pc:sldMk cId="816409239" sldId="318"/>
        </pc:sldMkLst>
        <pc:graphicFrameChg chg="modGraphic">
          <ac:chgData name="Nicolas Gurtner" userId="7cddb92f0f81b20b" providerId="LiveId" clId="{D41BC7BF-A967-4900-B00E-B8992BF30A4B}" dt="2023-02-06T14:38:21.208" v="89" actId="20577"/>
          <ac:graphicFrameMkLst>
            <pc:docMk/>
            <pc:sldMk cId="816409239" sldId="318"/>
            <ac:graphicFrameMk id="10" creationId="{69CBB59F-149F-49A9-84A0-431C3EADAEF2}"/>
          </ac:graphicFrameMkLst>
        </pc:graphicFrameChg>
      </pc:sldChg>
    </pc:docChg>
  </pc:docChgLst>
  <pc:docChgLst>
    <pc:chgData name="Nicolas Gurtner" userId="7cddb92f0f81b20b" providerId="LiveId" clId="{57A31025-1CBA-4CB5-8CA4-ED0AE8D1598C}"/>
    <pc:docChg chg="modNotesMaster">
      <pc:chgData name="Nicolas Gurtner" userId="7cddb92f0f81b20b" providerId="LiveId" clId="{57A31025-1CBA-4CB5-8CA4-ED0AE8D1598C}" dt="2024-02-15T15:09:07.121" v="0"/>
      <pc:docMkLst>
        <pc:docMk/>
      </pc:docMkLst>
    </pc:docChg>
  </pc:docChgLst>
  <pc:docChgLst>
    <pc:chgData name="Nicolas Gurtner" userId="7cddb92f0f81b20b" providerId="LiveId" clId="{627018B4-5E8C-4017-945F-8BF4A779167C}"/>
    <pc:docChg chg="custSel modSld">
      <pc:chgData name="Nicolas Gurtner" userId="7cddb92f0f81b20b" providerId="LiveId" clId="{627018B4-5E8C-4017-945F-8BF4A779167C}" dt="2023-03-16T11:05:31.179" v="26"/>
      <pc:docMkLst>
        <pc:docMk/>
      </pc:docMkLst>
      <pc:sldChg chg="modSp modAnim">
        <pc:chgData name="Nicolas Gurtner" userId="7cddb92f0f81b20b" providerId="LiveId" clId="{627018B4-5E8C-4017-945F-8BF4A779167C}" dt="2023-03-16T10:49:59.416" v="9" actId="20577"/>
        <pc:sldMkLst>
          <pc:docMk/>
          <pc:sldMk cId="2836517259" sldId="273"/>
        </pc:sldMkLst>
        <pc:spChg chg="mod">
          <ac:chgData name="Nicolas Gurtner" userId="7cddb92f0f81b20b" providerId="LiveId" clId="{627018B4-5E8C-4017-945F-8BF4A779167C}" dt="2023-03-16T10:49:59.416" v="9" actId="20577"/>
          <ac:spMkLst>
            <pc:docMk/>
            <pc:sldMk cId="2836517259" sldId="273"/>
            <ac:spMk id="3" creationId="{42949A10-B759-494D-AA19-042AD2D25713}"/>
          </ac:spMkLst>
        </pc:spChg>
      </pc:sldChg>
      <pc:sldChg chg="modSp mod modAnim">
        <pc:chgData name="Nicolas Gurtner" userId="7cddb92f0f81b20b" providerId="LiveId" clId="{627018B4-5E8C-4017-945F-8BF4A779167C}" dt="2023-03-16T11:04:06.468" v="19" actId="27636"/>
        <pc:sldMkLst>
          <pc:docMk/>
          <pc:sldMk cId="2653709072" sldId="279"/>
        </pc:sldMkLst>
        <pc:spChg chg="mod">
          <ac:chgData name="Nicolas Gurtner" userId="7cddb92f0f81b20b" providerId="LiveId" clId="{627018B4-5E8C-4017-945F-8BF4A779167C}" dt="2023-03-16T11:04:06.468" v="19" actId="27636"/>
          <ac:spMkLst>
            <pc:docMk/>
            <pc:sldMk cId="2653709072" sldId="279"/>
            <ac:spMk id="3" creationId="{95515AAC-C35B-4CBE-900A-87F76AF7D00D}"/>
          </ac:spMkLst>
        </pc:spChg>
      </pc:sldChg>
      <pc:sldChg chg="modSp mod modAnim">
        <pc:chgData name="Nicolas Gurtner" userId="7cddb92f0f81b20b" providerId="LiveId" clId="{627018B4-5E8C-4017-945F-8BF4A779167C}" dt="2023-03-16T11:02:15.055" v="17" actId="27636"/>
        <pc:sldMkLst>
          <pc:docMk/>
          <pc:sldMk cId="4287121944" sldId="286"/>
        </pc:sldMkLst>
        <pc:spChg chg="mod">
          <ac:chgData name="Nicolas Gurtner" userId="7cddb92f0f81b20b" providerId="LiveId" clId="{627018B4-5E8C-4017-945F-8BF4A779167C}" dt="2023-03-16T11:02:15.055" v="17" actId="27636"/>
          <ac:spMkLst>
            <pc:docMk/>
            <pc:sldMk cId="4287121944" sldId="286"/>
            <ac:spMk id="3" creationId="{95515AAC-C35B-4CBE-900A-87F76AF7D00D}"/>
          </ac:spMkLst>
        </pc:spChg>
      </pc:sldChg>
      <pc:sldChg chg="modSp mod modAnim">
        <pc:chgData name="Nicolas Gurtner" userId="7cddb92f0f81b20b" providerId="LiveId" clId="{627018B4-5E8C-4017-945F-8BF4A779167C}" dt="2023-03-16T11:00:35.979" v="11" actId="27636"/>
        <pc:sldMkLst>
          <pc:docMk/>
          <pc:sldMk cId="1353818330" sldId="288"/>
        </pc:sldMkLst>
        <pc:spChg chg="mod">
          <ac:chgData name="Nicolas Gurtner" userId="7cddb92f0f81b20b" providerId="LiveId" clId="{627018B4-5E8C-4017-945F-8BF4A779167C}" dt="2023-03-16T11:00:35.979" v="11" actId="27636"/>
          <ac:spMkLst>
            <pc:docMk/>
            <pc:sldMk cId="1353818330" sldId="288"/>
            <ac:spMk id="3" creationId="{42949A10-B759-494D-AA19-042AD2D25713}"/>
          </ac:spMkLst>
        </pc:spChg>
      </pc:sldChg>
      <pc:sldChg chg="modSp mod">
        <pc:chgData name="Nicolas Gurtner" userId="7cddb92f0f81b20b" providerId="LiveId" clId="{627018B4-5E8C-4017-945F-8BF4A779167C}" dt="2023-03-16T10:31:09.630" v="1"/>
        <pc:sldMkLst>
          <pc:docMk/>
          <pc:sldMk cId="3611231379" sldId="309"/>
        </pc:sldMkLst>
        <pc:spChg chg="mod">
          <ac:chgData name="Nicolas Gurtner" userId="7cddb92f0f81b20b" providerId="LiveId" clId="{627018B4-5E8C-4017-945F-8BF4A779167C}" dt="2023-03-16T10:31:09.630" v="1"/>
          <ac:spMkLst>
            <pc:docMk/>
            <pc:sldMk cId="3611231379" sldId="309"/>
            <ac:spMk id="3" creationId="{1E656ECD-33E9-4282-8624-662914149850}"/>
          </ac:spMkLst>
        </pc:spChg>
      </pc:sldChg>
      <pc:sldChg chg="modSp mod modAnim">
        <pc:chgData name="Nicolas Gurtner" userId="7cddb92f0f81b20b" providerId="LiveId" clId="{627018B4-5E8C-4017-945F-8BF4A779167C}" dt="2023-03-16T11:05:31.179" v="26"/>
        <pc:sldMkLst>
          <pc:docMk/>
          <pc:sldMk cId="399085137" sldId="315"/>
        </pc:sldMkLst>
        <pc:spChg chg="mod">
          <ac:chgData name="Nicolas Gurtner" userId="7cddb92f0f81b20b" providerId="LiveId" clId="{627018B4-5E8C-4017-945F-8BF4A779167C}" dt="2023-03-16T11:05:31.179" v="26"/>
          <ac:spMkLst>
            <pc:docMk/>
            <pc:sldMk cId="399085137" sldId="315"/>
            <ac:spMk id="3" creationId="{95515AAC-C35B-4CBE-900A-87F76AF7D00D}"/>
          </ac:spMkLst>
        </pc:spChg>
      </pc:sldChg>
    </pc:docChg>
  </pc:docChgLst>
  <pc:docChgLst>
    <pc:chgData name="Nicolas Gurtner" userId="7cddb92f0f81b20b" providerId="LiveId" clId="{2081A29D-567F-49D4-B254-75FA4B3A6506}"/>
    <pc:docChg chg="modSld">
      <pc:chgData name="Nicolas Gurtner" userId="7cddb92f0f81b20b" providerId="LiveId" clId="{2081A29D-567F-49D4-B254-75FA4B3A6506}" dt="2023-04-28T08:43:38.121" v="0" actId="20577"/>
      <pc:docMkLst>
        <pc:docMk/>
      </pc:docMkLst>
      <pc:sldChg chg="modSp mod">
        <pc:chgData name="Nicolas Gurtner" userId="7cddb92f0f81b20b" providerId="LiveId" clId="{2081A29D-567F-49D4-B254-75FA4B3A6506}" dt="2023-04-28T08:43:38.121" v="0" actId="20577"/>
        <pc:sldMkLst>
          <pc:docMk/>
          <pc:sldMk cId="816409239" sldId="318"/>
        </pc:sldMkLst>
        <pc:graphicFrameChg chg="modGraphic">
          <ac:chgData name="Nicolas Gurtner" userId="7cddb92f0f81b20b" providerId="LiveId" clId="{2081A29D-567F-49D4-B254-75FA4B3A6506}" dt="2023-04-28T08:43:38.121" v="0" actId="20577"/>
          <ac:graphicFrameMkLst>
            <pc:docMk/>
            <pc:sldMk cId="816409239" sldId="318"/>
            <ac:graphicFrameMk id="10" creationId="{69CBB59F-149F-49A9-84A0-431C3EADAEF2}"/>
          </ac:graphicFrameMkLst>
        </pc:graphicFrameChg>
      </pc:sldChg>
    </pc:docChg>
  </pc:docChgLst>
  <pc:docChgLst>
    <pc:chgData name="Nicolas Gurtner" userId="7cddb92f0f81b20b" providerId="LiveId" clId="{2411FC2F-6A0F-494F-B10A-96156726D6F4}"/>
    <pc:docChg chg="modSld">
      <pc:chgData name="Nicolas Gurtner" userId="7cddb92f0f81b20b" providerId="LiveId" clId="{2411FC2F-6A0F-494F-B10A-96156726D6F4}" dt="2020-02-23T19:53:55.031" v="0" actId="20577"/>
      <pc:docMkLst>
        <pc:docMk/>
      </pc:docMkLst>
      <pc:sldChg chg="modSp">
        <pc:chgData name="Nicolas Gurtner" userId="7cddb92f0f81b20b" providerId="LiveId" clId="{2411FC2F-6A0F-494F-B10A-96156726D6F4}" dt="2020-02-23T19:53:55.031" v="0" actId="20577"/>
        <pc:sldMkLst>
          <pc:docMk/>
          <pc:sldMk cId="2884204559" sldId="300"/>
        </pc:sldMkLst>
        <pc:spChg chg="mod">
          <ac:chgData name="Nicolas Gurtner" userId="7cddb92f0f81b20b" providerId="LiveId" clId="{2411FC2F-6A0F-494F-B10A-96156726D6F4}" dt="2020-02-23T19:53:55.031" v="0" actId="20577"/>
          <ac:spMkLst>
            <pc:docMk/>
            <pc:sldMk cId="2884204559" sldId="300"/>
            <ac:spMk id="3" creationId="{1E656ECD-33E9-4282-8624-6629141498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93ADC-365B-4F12-9A62-2C185BE802ED}" type="datetimeFigureOut">
              <a:rPr lang="fr-CH" smtClean="0"/>
              <a:pPr/>
              <a:t>15.02.2024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6CD98-00B8-46E4-AB43-C079425CB720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5268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6CD98-00B8-46E4-AB43-C079425CB720}" type="slidenum">
              <a:rPr lang="fr-CH" smtClean="0"/>
              <a:pPr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66327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A28B3F-623D-4698-9204-376B78346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00" baseline="0"/>
            </a:lvl1pPr>
          </a:lstStyle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4ED1371-12A8-4E7D-9841-FE86B0293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800" baseline="0">
                <a:latin typeface="Calibri" panose="020F050202020403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6EE2FB-47D4-42AA-976C-C7FAEB67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25F870-103D-40F5-9CDF-9CDF8418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3F6B29-8E3A-4BCF-A2C4-AD27820A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3872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26F720-8AA6-4A96-B3CA-D503C693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5400" spc="100" baseline="0"/>
            </a:lvl1pPr>
          </a:lstStyle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53F78-6DFB-4077-9864-71D18EB4F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4400"/>
            </a:lvl1pPr>
            <a:lvl2pPr>
              <a:defRPr sz="3600"/>
            </a:lvl2pPr>
            <a:lvl3pPr>
              <a:defRPr sz="3200"/>
            </a:lvl3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7004E3-CEA3-4934-9130-D71A31E6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914377" rtl="0" eaLnBrk="1" latinLnBrk="0" hangingPunct="1">
              <a:defRPr lang="fr-CH" sz="1600" kern="1200" baseline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</a:lstStyle>
          <a:p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A6B044-97FB-49DD-8047-0707DCC3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aseline="0">
                <a:latin typeface="Calibri" panose="020F0502020204030204" pitchFamily="34" charset="0"/>
              </a:defRPr>
            </a:lvl1pPr>
          </a:lstStyle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328EE1-7321-4756-BAD6-6816E58F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latin typeface="Calibri" panose="020F0502020204030204" pitchFamily="34" charset="0"/>
              </a:defRPr>
            </a:lvl1pPr>
          </a:lstStyle>
          <a:p>
            <a:fld id="{9AAA63AE-B855-4AA0-8314-7442D6EB9464}" type="slidenum">
              <a:rPr lang="fr-CH" smtClean="0"/>
              <a:pPr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52754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16908-0486-4F27-A3E9-68B36E75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8DD665-57C1-45BC-820C-EE7DD12A7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CF72A8-4123-402A-93DD-8DB50551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634661-6ABE-4E23-AFCC-090400A8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857FF0-CC57-44AA-8869-365C0768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4685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B0FC66-822E-4557-8AAF-7BDF7101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CAB62D-9E3E-4728-B38C-8BF54AE62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72E472-7694-4458-A339-31F99B932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0558A-1918-4DA2-BB2F-C9B8DF1A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F119DE-ED86-4E39-8102-2AD82969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8CFAD4-18DE-4AFC-A5A1-B1733314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617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4F364A-472F-4811-923C-044426CE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646E12-53A4-4C75-B128-8B3700761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CC5493-39FD-4359-8140-1F454AF34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12F37B-7928-47D1-9CC9-D41AF8C0A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09EB8C-83CD-4FAC-BA85-04D5CB455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3712222-8E06-48DD-A287-65D316D48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0C7337B-B78A-483A-A4EE-A588B7D8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9521343-FE2D-4E46-93A0-D8860822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0153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204CF-2C25-4D01-B697-97ECF759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9B9E89-3BF8-416E-B74F-F2A7B17E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C65C3C-2178-4080-946C-5F8A7D78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6217D1-E940-4C7E-8C2E-D6C7672F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9580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FA4351-5ABA-41E0-8E2B-17320FA0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D48A6B-239F-46D5-88E8-127416B7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D6798B-ED1F-4755-9C65-A8D45617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3165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E513B8-237A-4EFF-ADDA-818D4265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EEAD80-3978-46D9-A252-9267A9FDC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02B436-EAF6-4277-893B-732575BEA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903968-F3CF-4B3D-BB21-8D1FAAA8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353DFA-9F9F-4954-9119-7CFDC856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8A1263-FB82-46EB-95AD-C846A6D3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4548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A1B6D7-8BE4-4C56-B08A-8055AB0A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A9928CB-6D8A-4A1E-9C25-44FF2436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08EA64-1B94-452F-8720-36E7678CA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B984B8-DBDA-45A5-ADC8-C189D788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CC2F32-FC0C-49B8-B454-E63D11D1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FD00F1-77A3-4D62-B043-598C2520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3636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780C3C-A086-48D9-9B70-B13839F7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72EF48-0330-4D70-9020-DE2092B1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D68131-DF83-444A-9D72-7A80093B5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9F578C-1BDC-476C-B666-465EEE53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4FD90-C4A1-4784-A9DB-8A8839C5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0172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8D0AF1B-3AA7-4A5E-A08D-80DE7F10C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34F035-2FC2-4CD7-8996-B3BE1F86D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3C38D4-8AC3-459A-9E38-EB3C7FD9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4238B1-5F84-4BCE-9964-306F8C90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1C02D8-67A6-485B-9906-BC442785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4253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DB6382B-7CF8-448A-9261-A74F5A5D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789D43-F01A-4EC9-B012-B932D5605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AC74EF-344A-4AB7-8794-66381A7F5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8A9659-591E-4B96-B1CF-FFCBF698C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3BA2B7-9AFC-4D6D-A810-4999DFAC3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A63AE-B855-4AA0-8314-7442D6EB9464}" type="slidenum">
              <a:rPr lang="fr-CH" smtClean="0"/>
              <a:pPr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7737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rgbClr val="C00000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UWSrl-Y4go&amp;feature=youtu.be" TargetMode="External"/><Relationship Id="rId2" Type="http://schemas.openxmlformats.org/officeDocument/2006/relationships/hyperlink" Target="https://www.youtube.com/watch?v=L9S_WF_Ylk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TmRw1Yd2zeQ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nVwvPpdFeY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-KLE7PTx92U?si=shY9eedBarqiS9Uy&amp;t=12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vShgwJY2cE" TargetMode="External"/><Relationship Id="rId2" Type="http://schemas.openxmlformats.org/officeDocument/2006/relationships/hyperlink" Target="https://www.youtube.com/watch?v=WIU8Zw6Li1M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live/RUJKcVasUYE?feature=share&amp;t=561" TargetMode="External"/><Relationship Id="rId2" Type="http://schemas.openxmlformats.org/officeDocument/2006/relationships/hyperlink" Target="https://youtu.be/q4gzVy65js0?t=52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Lz6X1kDeUQ" TargetMode="External"/><Relationship Id="rId2" Type="http://schemas.openxmlformats.org/officeDocument/2006/relationships/hyperlink" Target="https://www.youtube.com/watch?v=tna3DsCYaT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Py9K5X0byFg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Cf0Bsvo-MRE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j48q6bVQdE&amp;t=3433s" TargetMode="External"/><Relationship Id="rId2" Type="http://schemas.openxmlformats.org/officeDocument/2006/relationships/hyperlink" Target="https://www.youtube.com/watch?v=a1r8Ad6nFSA&amp;ab_channel=LePoin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DyNrjKNzKdY&amp;t=4s" TargetMode="External"/><Relationship Id="rId4" Type="http://schemas.openxmlformats.org/officeDocument/2006/relationships/hyperlink" Target="https://www.youtube.com/watch?v=U-xJ6EiEdlg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ilymotion.com/video/x4ktvqs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yGyrKyXXKY" TargetMode="External"/><Relationship Id="rId2" Type="http://schemas.openxmlformats.org/officeDocument/2006/relationships/hyperlink" Target="https://www.youtube.com/watch?v=Cf0Bsvo-MR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exulrMq7KVo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ilymotion.com/video/xf45wk" TargetMode="External"/><Relationship Id="rId2" Type="http://schemas.openxmlformats.org/officeDocument/2006/relationships/hyperlink" Target="https://www.youtube.com/watch?v=J81TidthZ90&amp;t=557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Ve6RyRduDoc" TargetMode="Externa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7D3F15-2351-4C0D-8B52-1A879B560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19000"/>
            <a:ext cx="9144000" cy="2387600"/>
          </a:xfrm>
        </p:spPr>
        <p:txBody>
          <a:bodyPr/>
          <a:lstStyle/>
          <a:p>
            <a:r>
              <a:rPr lang="fr-CH" dirty="0"/>
              <a:t>LA PAROLE EST UNE VOIE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798903-0A24-43DB-9ACB-4237B40CF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98675"/>
            <a:ext cx="9144000" cy="1655762"/>
          </a:xfrm>
        </p:spPr>
        <p:txBody>
          <a:bodyPr>
            <a:normAutofit/>
          </a:bodyPr>
          <a:lstStyle/>
          <a:p>
            <a:r>
              <a:rPr lang="fr-CH" dirty="0"/>
              <a:t>L’art de convaincre</a:t>
            </a:r>
          </a:p>
          <a:p>
            <a:r>
              <a:rPr lang="fr-CH" dirty="0"/>
              <a:t>Cours A : construire un discours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C005E1-8DB6-4D2B-BF62-35B4F303A4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87" y="5257800"/>
            <a:ext cx="3381375" cy="676275"/>
          </a:xfrm>
          <a:prstGeom prst="rect">
            <a:avLst/>
          </a:prstGeom>
        </p:spPr>
      </p:pic>
      <p:pic>
        <p:nvPicPr>
          <p:cNvPr id="1026" name="Picture 2" descr="RÃ©sultat de recherche d'images pour &quot;logo DIP genÃ¨ve&quot;">
            <a:extLst>
              <a:ext uri="{FF2B5EF4-FFF2-40B4-BE49-F238E27FC236}">
                <a16:creationId xmlns:a16="http://schemas.microsoft.com/office/drawing/2014/main" id="{E88829E8-4365-487C-A1C1-00884ECD0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395" y="4842905"/>
            <a:ext cx="1844058" cy="150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7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448D4-184A-4ABE-9EF0-45ADF657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Calendrier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B70278-5294-43D2-BB3E-3B028E3D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688A8C-0AC2-4A5B-8BB8-3995457D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</a:t>
            </a:fld>
            <a:endParaRPr lang="fr-CH" dirty="0"/>
          </a:p>
        </p:txBody>
      </p:sp>
      <p:graphicFrame>
        <p:nvGraphicFramePr>
          <p:cNvPr id="10" name="Tableau 10">
            <a:extLst>
              <a:ext uri="{FF2B5EF4-FFF2-40B4-BE49-F238E27FC236}">
                <a16:creationId xmlns:a16="http://schemas.microsoft.com/office/drawing/2014/main" id="{69CBB59F-149F-49A9-84A0-431C3EADA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35050"/>
              </p:ext>
            </p:extLst>
          </p:nvPr>
        </p:nvGraphicFramePr>
        <p:xfrm>
          <a:off x="2032000" y="1881192"/>
          <a:ext cx="8128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100413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45155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6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Février - avril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Cours en classe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794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Fin avril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Séance intermédiaire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34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1 - 15  mai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Désignation des représentants par classe à la finale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573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15 - 31 mai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Préparation à la finale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004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31 mai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Finale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05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601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067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40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L’objectif : convaincre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Contexte : un débat, une controverse</a:t>
            </a:r>
          </a:p>
          <a:p>
            <a:pPr lvl="1"/>
            <a:r>
              <a:rPr lang="fr-CH" dirty="0"/>
              <a:t>Deux adversaires</a:t>
            </a:r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r>
              <a:rPr lang="fr-CH" dirty="0"/>
              <a:t>Un auditoire</a:t>
            </a:r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</a:t>
            </a:fld>
            <a:endParaRPr lang="fr-CH" dirty="0"/>
          </a:p>
        </p:txBody>
      </p:sp>
      <p:sp>
        <p:nvSpPr>
          <p:cNvPr id="6" name="Flèche droite 7">
            <a:extLst>
              <a:ext uri="{FF2B5EF4-FFF2-40B4-BE49-F238E27FC236}">
                <a16:creationId xmlns:a16="http://schemas.microsoft.com/office/drawing/2014/main" id="{48A04E23-99F5-4229-BBD6-B8C2245E7778}"/>
              </a:ext>
            </a:extLst>
          </p:cNvPr>
          <p:cNvSpPr/>
          <p:nvPr/>
        </p:nvSpPr>
        <p:spPr>
          <a:xfrm>
            <a:off x="6915323" y="3068960"/>
            <a:ext cx="1008112" cy="720080"/>
          </a:xfrm>
          <a:prstGeom prst="rightArrow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Flèche droite 9">
            <a:extLst>
              <a:ext uri="{FF2B5EF4-FFF2-40B4-BE49-F238E27FC236}">
                <a16:creationId xmlns:a16="http://schemas.microsoft.com/office/drawing/2014/main" id="{46A6C435-228E-4BFB-ABBC-17686404E2D8}"/>
              </a:ext>
            </a:extLst>
          </p:cNvPr>
          <p:cNvSpPr/>
          <p:nvPr/>
        </p:nvSpPr>
        <p:spPr>
          <a:xfrm rot="10800000">
            <a:off x="9219579" y="3068961"/>
            <a:ext cx="1008112" cy="720080"/>
          </a:xfrm>
          <a:prstGeom prst="rightArrow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Flèche droite 7">
            <a:extLst>
              <a:ext uri="{FF2B5EF4-FFF2-40B4-BE49-F238E27FC236}">
                <a16:creationId xmlns:a16="http://schemas.microsoft.com/office/drawing/2014/main" id="{1A377E1D-D6CE-42F7-8492-7F7B8C8005F5}"/>
              </a:ext>
            </a:extLst>
          </p:cNvPr>
          <p:cNvSpPr/>
          <p:nvPr/>
        </p:nvSpPr>
        <p:spPr>
          <a:xfrm rot="2700000">
            <a:off x="6915323" y="4493619"/>
            <a:ext cx="1008112" cy="720080"/>
          </a:xfrm>
          <a:prstGeom prst="rightArrow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Flèche droite 9">
            <a:extLst>
              <a:ext uri="{FF2B5EF4-FFF2-40B4-BE49-F238E27FC236}">
                <a16:creationId xmlns:a16="http://schemas.microsoft.com/office/drawing/2014/main" id="{BD42587C-6F83-44D6-8FE4-78648D695A8B}"/>
              </a:ext>
            </a:extLst>
          </p:cNvPr>
          <p:cNvSpPr/>
          <p:nvPr/>
        </p:nvSpPr>
        <p:spPr>
          <a:xfrm rot="8100000">
            <a:off x="9219579" y="4493619"/>
            <a:ext cx="1008112" cy="720080"/>
          </a:xfrm>
          <a:prstGeom prst="rightArrow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12C68DF-5CDF-447D-A411-9FA8F0AE09FA}"/>
              </a:ext>
            </a:extLst>
          </p:cNvPr>
          <p:cNvSpPr/>
          <p:nvPr/>
        </p:nvSpPr>
        <p:spPr>
          <a:xfrm>
            <a:off x="8137460" y="5213700"/>
            <a:ext cx="946287" cy="946287"/>
          </a:xfrm>
          <a:prstGeom prst="ellipse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7420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961378-CEAF-4701-8E43-729CD193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dirty="0"/>
              <a:t>La rhétorique : qui ? quoi ? quand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BEB7C-F986-4036-BAC7-05E48281F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EAA76B-3E36-43A8-BE7F-9BD23755D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AE956C-ADD0-45B0-83F9-8D34FB01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</a:t>
            </a:fld>
            <a:endParaRPr lang="fr-CH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0993E4B6-4A95-45BF-8754-9D8B2AF5D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242736"/>
              </p:ext>
            </p:extLst>
          </p:nvPr>
        </p:nvGraphicFramePr>
        <p:xfrm>
          <a:off x="1013717" y="1550703"/>
          <a:ext cx="10164566" cy="4586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2283">
                  <a:extLst>
                    <a:ext uri="{9D8B030D-6E8A-4147-A177-3AD203B41FA5}">
                      <a16:colId xmlns:a16="http://schemas.microsoft.com/office/drawing/2014/main" val="4258186375"/>
                    </a:ext>
                  </a:extLst>
                </a:gridCol>
                <a:gridCol w="5082283">
                  <a:extLst>
                    <a:ext uri="{9D8B030D-6E8A-4147-A177-3AD203B41FA5}">
                      <a16:colId xmlns:a16="http://schemas.microsoft.com/office/drawing/2014/main" val="2450370642"/>
                    </a:ext>
                  </a:extLst>
                </a:gridCol>
              </a:tblGrid>
              <a:tr h="3945971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013959"/>
                  </a:ext>
                </a:extLst>
              </a:tr>
              <a:tr h="554947">
                <a:tc>
                  <a:txBody>
                    <a:bodyPr/>
                    <a:lstStyle/>
                    <a:p>
                      <a:pPr algn="ctr"/>
                      <a:r>
                        <a:rPr lang="fr-CH" sz="3600" b="1" dirty="0">
                          <a:solidFill>
                            <a:srgbClr val="C00000"/>
                          </a:solidFill>
                        </a:rPr>
                        <a:t>Périclès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36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de Gaulle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62966"/>
                  </a:ext>
                </a:extLst>
              </a:tr>
            </a:tbl>
          </a:graphicData>
        </a:graphic>
      </p:graphicFrame>
      <p:pic>
        <p:nvPicPr>
          <p:cNvPr id="11" name="Image 10">
            <a:extLst>
              <a:ext uri="{FF2B5EF4-FFF2-40B4-BE49-F238E27FC236}">
                <a16:creationId xmlns:a16="http://schemas.microsoft.com/office/drawing/2014/main" id="{2C7DA4BE-2E84-47A5-A245-F92C5B401D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946" y="1815373"/>
            <a:ext cx="4743850" cy="333396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B9D8DB2-4649-4685-9841-363D6DDDF5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928" y="1870083"/>
            <a:ext cx="4777344" cy="323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961378-CEAF-4701-8E43-729CD193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dirty="0"/>
              <a:t>La rhétorique : qui ? quoi ? quand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BEB7C-F986-4036-BAC7-05E48281F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EAA76B-3E36-43A8-BE7F-9BD23755D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AE956C-ADD0-45B0-83F9-8D34FB01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</a:t>
            </a:fld>
            <a:endParaRPr lang="fr-CH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0993E4B6-4A95-45BF-8754-9D8B2AF5DBBE}"/>
              </a:ext>
            </a:extLst>
          </p:cNvPr>
          <p:cNvGraphicFramePr>
            <a:graphicFrameLocks noGrp="1"/>
          </p:cNvGraphicFramePr>
          <p:nvPr/>
        </p:nvGraphicFramePr>
        <p:xfrm>
          <a:off x="1013717" y="1550703"/>
          <a:ext cx="10164566" cy="4586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2283">
                  <a:extLst>
                    <a:ext uri="{9D8B030D-6E8A-4147-A177-3AD203B41FA5}">
                      <a16:colId xmlns:a16="http://schemas.microsoft.com/office/drawing/2014/main" val="4258186375"/>
                    </a:ext>
                  </a:extLst>
                </a:gridCol>
                <a:gridCol w="5082283">
                  <a:extLst>
                    <a:ext uri="{9D8B030D-6E8A-4147-A177-3AD203B41FA5}">
                      <a16:colId xmlns:a16="http://schemas.microsoft.com/office/drawing/2014/main" val="2450370642"/>
                    </a:ext>
                  </a:extLst>
                </a:gridCol>
              </a:tblGrid>
              <a:tr h="3945971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013959"/>
                  </a:ext>
                </a:extLst>
              </a:tr>
              <a:tr h="554947">
                <a:tc>
                  <a:txBody>
                    <a:bodyPr/>
                    <a:lstStyle/>
                    <a:p>
                      <a:pPr algn="ctr"/>
                      <a:r>
                        <a:rPr lang="fr-CH" sz="3600" b="1" dirty="0">
                          <a:solidFill>
                            <a:srgbClr val="C00000"/>
                          </a:solidFill>
                        </a:rPr>
                        <a:t>Churchill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36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Pogba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62966"/>
                  </a:ext>
                </a:extLst>
              </a:tr>
            </a:tbl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C203556B-78D0-4E53-96EE-7B32DBE83A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886" y="1803820"/>
            <a:ext cx="4662754" cy="349968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285DD94-B588-488E-AF6F-67F12271885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7000" contrast="-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41" r="13441" b="8617"/>
          <a:stretch/>
        </p:blipFill>
        <p:spPr>
          <a:xfrm>
            <a:off x="6250433" y="1911078"/>
            <a:ext cx="4720334" cy="331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83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E48E0A-79BD-44B9-BA3E-4F24E400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Qu’ont-ils en commun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1F6856-F74C-4F1B-A55C-075568B5A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dirty="0"/>
              <a:t>Périclès : Combattre pour Athènes</a:t>
            </a:r>
          </a:p>
          <a:p>
            <a:r>
              <a:rPr lang="fr-CH" dirty="0"/>
              <a:t>de Gaulle : « </a:t>
            </a:r>
            <a:r>
              <a:rPr lang="fr-CH" i="1" dirty="0"/>
              <a:t>Quoi qu'il arrive, la flamme de la résistance française ne doit pas s'éteindre et ne s'éteindra pas.</a:t>
            </a:r>
            <a:r>
              <a:rPr lang="fr-CH" dirty="0"/>
              <a:t> »</a:t>
            </a:r>
          </a:p>
          <a:p>
            <a:r>
              <a:rPr lang="fr-CH" dirty="0"/>
              <a:t>Churchill : « </a:t>
            </a:r>
            <a:r>
              <a:rPr lang="fr-CH" i="1" dirty="0" err="1"/>
              <a:t>never</a:t>
            </a:r>
            <a:r>
              <a:rPr lang="fr-CH" i="1" dirty="0"/>
              <a:t> </a:t>
            </a:r>
            <a:r>
              <a:rPr lang="fr-CH" i="1" dirty="0" err="1"/>
              <a:t>surrender</a:t>
            </a:r>
            <a:r>
              <a:rPr lang="fr-CH" dirty="0"/>
              <a:t> » (« </a:t>
            </a:r>
            <a:r>
              <a:rPr lang="fr-CH" i="1" dirty="0"/>
              <a:t>ne jamais </a:t>
            </a:r>
            <a:br>
              <a:rPr lang="fr-CH" i="1" dirty="0"/>
            </a:br>
            <a:r>
              <a:rPr lang="fr-CH" i="1" dirty="0"/>
              <a:t>abandonner</a:t>
            </a:r>
            <a:r>
              <a:rPr lang="fr-CH" dirty="0"/>
              <a:t> »)</a:t>
            </a:r>
          </a:p>
          <a:p>
            <a:r>
              <a:rPr lang="fr-CH" dirty="0"/>
              <a:t>Pogba : « </a:t>
            </a:r>
            <a:r>
              <a:rPr lang="fr-CH" i="1" dirty="0"/>
              <a:t>On va aller jusqu’au bout.</a:t>
            </a:r>
            <a:r>
              <a:rPr lang="fr-CH" dirty="0"/>
              <a:t> »</a:t>
            </a:r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09F3E16-753B-4529-B206-63D5FF62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918B4A4-2B73-4E54-A794-17ED44E2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6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52332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E48E0A-79BD-44B9-BA3E-4F24E400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Qu’ont-ils en commun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1F6856-F74C-4F1B-A55C-075568B5A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fr-CH" dirty="0"/>
          </a:p>
          <a:p>
            <a:pPr marL="0" indent="0" algn="ctr">
              <a:buNone/>
            </a:pPr>
            <a:endParaRPr lang="fr-CH" dirty="0"/>
          </a:p>
          <a:p>
            <a:pPr marL="0" indent="0" algn="ctr">
              <a:buNone/>
            </a:pPr>
            <a:r>
              <a:rPr lang="fr-CH" dirty="0"/>
              <a:t>La rhétorique</a:t>
            </a:r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09F3E16-753B-4529-B206-63D5FF62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918B4A4-2B73-4E54-A794-17ED44E2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7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16289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ABD389-D366-4CEE-895A-FD61BF06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Qu’ont-ils en commun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B1158E-E0B4-4B3A-B04F-20361CB82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Qui parle ?</a:t>
            </a:r>
          </a:p>
          <a:p>
            <a:r>
              <a:rPr lang="fr-CH" dirty="0"/>
              <a:t>À qui ?</a:t>
            </a:r>
          </a:p>
          <a:p>
            <a:r>
              <a:rPr lang="fr-CH" dirty="0"/>
              <a:t>Pourquoi ? </a:t>
            </a:r>
          </a:p>
          <a:p>
            <a:pPr marL="0" indent="0" algn="ctr">
              <a:buNone/>
            </a:pPr>
            <a:r>
              <a:rPr lang="fr-CH" dirty="0"/>
              <a:t>Situation de crise</a:t>
            </a:r>
          </a:p>
          <a:p>
            <a:pPr marL="0" indent="0" algn="ctr">
              <a:buNone/>
            </a:pPr>
            <a:endParaRPr lang="fr-CH" sz="1600" dirty="0"/>
          </a:p>
          <a:p>
            <a:r>
              <a:rPr lang="fr-CH" dirty="0"/>
              <a:t>Motiver la foule au combat !</a:t>
            </a:r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6CC8B0-1469-4991-B127-5EEE4340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58361F-4FAA-401F-A4BF-6E84C80B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8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5466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8D5BC0-400B-409C-AD08-4B31B6A7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débat : exemples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92388D-C7C7-4365-A8D2-7D4D2C31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A72C9E-27AB-4285-B2C8-8953023F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9</a:t>
            </a:fld>
            <a:endParaRPr lang="fr-CH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A8FC551B-55E8-40EB-90E4-DE946BDCBA8F}"/>
              </a:ext>
            </a:extLst>
          </p:cNvPr>
          <p:cNvSpPr txBox="1">
            <a:spLocks/>
          </p:cNvSpPr>
          <p:nvPr/>
        </p:nvSpPr>
        <p:spPr>
          <a:xfrm>
            <a:off x="644903" y="2141533"/>
            <a:ext cx="545109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3200" dirty="0">
                <a:latin typeface="Calibri" panose="020F0502020204030204" pitchFamily="34" charset="0"/>
              </a:rPr>
              <a:t>David est coupable : il a triché.</a:t>
            </a:r>
          </a:p>
          <a:p>
            <a:r>
              <a:rPr lang="fr-CH" sz="3200" dirty="0">
                <a:latin typeface="Calibri" panose="020F0502020204030204" pitchFamily="34" charset="0"/>
              </a:rPr>
              <a:t>Le projet du groupe A est le meilleur.</a:t>
            </a:r>
          </a:p>
          <a:p>
            <a:r>
              <a:rPr lang="fr-CH" sz="3200" dirty="0">
                <a:latin typeface="Calibri" panose="020F0502020204030204" pitchFamily="34" charset="0"/>
              </a:rPr>
              <a:t>Il faut punir Jean.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8CC0235C-9467-4735-936B-82A01442C40F}"/>
              </a:ext>
            </a:extLst>
          </p:cNvPr>
          <p:cNvSpPr txBox="1">
            <a:spLocks/>
          </p:cNvSpPr>
          <p:nvPr/>
        </p:nvSpPr>
        <p:spPr>
          <a:xfrm>
            <a:off x="6096000" y="2141533"/>
            <a:ext cx="545109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3200" dirty="0">
                <a:latin typeface="Calibri" panose="020F0502020204030204" pitchFamily="34" charset="0"/>
              </a:rPr>
              <a:t>David est innocent : il n’a pas triché.</a:t>
            </a:r>
          </a:p>
          <a:p>
            <a:pPr lvl="0">
              <a:defRPr/>
            </a:pPr>
            <a:r>
              <a:rPr lang="fr-CH" sz="3200" dirty="0">
                <a:latin typeface="Calibri" panose="020F0502020204030204" pitchFamily="34" charset="0"/>
              </a:rPr>
              <a:t>Le projet du groupe B est le meilleur.</a:t>
            </a:r>
          </a:p>
          <a:p>
            <a:r>
              <a:rPr lang="fr-CH" sz="3200" dirty="0">
                <a:latin typeface="Calibri" panose="020F0502020204030204" pitchFamily="34" charset="0"/>
              </a:rPr>
              <a:t>Il ne faut pas punir Jean.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48404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Introduction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fr-CH" dirty="0"/>
              <a:t>À l’attaque </a:t>
            </a:r>
          </a:p>
          <a:p>
            <a:pPr lvl="1"/>
            <a:r>
              <a:rPr lang="fr-CH" dirty="0">
                <a:highlight>
                  <a:srgbClr val="FFFF00"/>
                </a:highlight>
              </a:rPr>
              <a:t>Uniforme pour les élèves à l’école ?</a:t>
            </a:r>
          </a:p>
          <a:p>
            <a:pPr lvl="1"/>
            <a:r>
              <a:rPr lang="fr-CH" dirty="0"/>
              <a:t>Liberté de la presse ?</a:t>
            </a:r>
          </a:p>
          <a:p>
            <a:pPr lvl="1"/>
            <a:r>
              <a:rPr lang="fr-CH" dirty="0"/>
              <a:t>Mariage gay ?</a:t>
            </a:r>
          </a:p>
          <a:p>
            <a:pPr lvl="1"/>
            <a:r>
              <a:rPr lang="fr-CH" dirty="0">
                <a:highlight>
                  <a:srgbClr val="FFFF00"/>
                </a:highlight>
              </a:rPr>
              <a:t>La franchise, est-ce utile ?</a:t>
            </a:r>
          </a:p>
          <a:p>
            <a:pPr lvl="1"/>
            <a:r>
              <a:rPr lang="fr-CH" dirty="0"/>
              <a:t>La solitude, est-ce utile ?</a:t>
            </a:r>
          </a:p>
          <a:p>
            <a:pPr lvl="1"/>
            <a:r>
              <a:rPr lang="fr-CH" dirty="0"/>
              <a:t>L’auto-dérision : une destruction ou une force ?</a:t>
            </a:r>
          </a:p>
          <a:p>
            <a:pPr lvl="1"/>
            <a:r>
              <a:rPr lang="fr-CH" dirty="0"/>
              <a:t>La liberté de parole, des limites ?</a:t>
            </a:r>
          </a:p>
          <a:p>
            <a:pPr lvl="1"/>
            <a:r>
              <a:rPr lang="fr-CH" dirty="0"/>
              <a:t>Les téléphones portables en cours, à l’école ?</a:t>
            </a:r>
          </a:p>
          <a:p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CH" dirty="0"/>
              <a:t>		</a:t>
            </a:r>
            <a:fld id="{9AAA63AE-B855-4AA0-8314-7442D6EB9464}" type="slidenum">
              <a:rPr lang="fr-CH" smtClean="0"/>
              <a:pPr/>
              <a:t>10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35646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8297AD-9310-4247-94CE-9C6B0046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Comment préparer un discours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A047BA-6B39-474A-8A11-327852B59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CH" dirty="0"/>
              <a:t>Quelles étapes ? Quel chemin ?</a:t>
            </a:r>
          </a:p>
          <a:p>
            <a:r>
              <a:rPr lang="fr-CH" dirty="0"/>
              <a:t>Quelle structure ? Quel plan-type ?</a:t>
            </a:r>
          </a:p>
          <a:p>
            <a:endParaRPr lang="fr-CH" dirty="0"/>
          </a:p>
          <a:p>
            <a:r>
              <a:rPr lang="fr-CH" dirty="0"/>
              <a:t>Un fil rouge pour les prochaines étapes</a:t>
            </a:r>
          </a:p>
          <a:p>
            <a:pPr lvl="1"/>
            <a:r>
              <a:rPr lang="fr-CH" dirty="0">
                <a:hlinkClick r:id="rId2"/>
              </a:rPr>
              <a:t>https://www.youtube.com/watch?v=L9S_WF_YlkM</a:t>
            </a:r>
            <a:r>
              <a:rPr lang="fr-CH" dirty="0"/>
              <a:t> Emmanuel Macron</a:t>
            </a:r>
          </a:p>
          <a:p>
            <a:pPr lvl="1"/>
            <a:r>
              <a:rPr lang="fr-CH" dirty="0">
                <a:hlinkClick r:id="rId3"/>
              </a:rPr>
              <a:t>https://www.youtube.com/watch?v=pUWSrl-Y4go&amp;feature=youtu.be</a:t>
            </a:r>
            <a:r>
              <a:rPr lang="fr-CH" dirty="0"/>
              <a:t> (Badinter contre la répression de l’homosexualité)</a:t>
            </a:r>
          </a:p>
          <a:p>
            <a:pPr lvl="1"/>
            <a:r>
              <a:rPr lang="fr-CH" dirty="0">
                <a:hlinkClick r:id="rId4"/>
              </a:rPr>
              <a:t>https://www.youtube.com/watch?v=TmRw1Yd2zeQ</a:t>
            </a:r>
            <a:r>
              <a:rPr lang="fr-CH" dirty="0"/>
              <a:t>  Michelle Obama pour le droit des femmes et leur corps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510D6A2-428D-469E-92D8-0849DBED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A2C0C1-8377-4FF7-BF50-9027B321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11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55338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Introduction : exercices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Essayer : </a:t>
            </a:r>
          </a:p>
          <a:p>
            <a:pPr lvl="1"/>
            <a:r>
              <a:rPr lang="fr-CH" dirty="0"/>
              <a:t>Deux groupes</a:t>
            </a:r>
          </a:p>
          <a:p>
            <a:pPr lvl="2"/>
            <a:r>
              <a:rPr lang="fr-CH" dirty="0"/>
              <a:t>Chacun tour à tour un argument</a:t>
            </a:r>
          </a:p>
          <a:p>
            <a:r>
              <a:rPr lang="fr-CH" dirty="0"/>
              <a:t>Commenter par les autres</a:t>
            </a:r>
          </a:p>
          <a:p>
            <a:r>
              <a:rPr lang="fr-CH" dirty="0"/>
              <a:t>Serrer la main après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12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60110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L’objectif : convaincre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792"/>
            <a:ext cx="10515600" cy="4351338"/>
          </a:xfrm>
        </p:spPr>
        <p:txBody>
          <a:bodyPr/>
          <a:lstStyle/>
          <a:p>
            <a:r>
              <a:rPr lang="fr-CH" dirty="0"/>
              <a:t>Trois dimensions</a:t>
            </a:r>
          </a:p>
          <a:p>
            <a:pPr lvl="1"/>
            <a:r>
              <a:rPr lang="fr-CH" dirty="0"/>
              <a:t>Plaire		</a:t>
            </a:r>
            <a:r>
              <a:rPr lang="fr-CH" i="1" dirty="0" err="1"/>
              <a:t>Delectare</a:t>
            </a:r>
            <a:endParaRPr lang="fr-CH" i="1" dirty="0"/>
          </a:p>
          <a:p>
            <a:pPr lvl="1"/>
            <a:r>
              <a:rPr lang="fr-CH" dirty="0"/>
              <a:t>Émouvoir	</a:t>
            </a:r>
            <a:r>
              <a:rPr lang="fr-CH" i="1" dirty="0" err="1"/>
              <a:t>Movere</a:t>
            </a:r>
            <a:endParaRPr lang="fr-CH" dirty="0"/>
          </a:p>
          <a:p>
            <a:pPr lvl="1"/>
            <a:r>
              <a:rPr lang="fr-CH" dirty="0"/>
              <a:t>Instruire	</a:t>
            </a:r>
            <a:r>
              <a:rPr lang="fr-CH" i="1" dirty="0" err="1"/>
              <a:t>Docere</a:t>
            </a:r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13</a:t>
            </a:fld>
            <a:endParaRPr lang="fr-CH" dirty="0"/>
          </a:p>
        </p:txBody>
      </p:sp>
      <p:sp>
        <p:nvSpPr>
          <p:cNvPr id="6" name="Flèche droite 7">
            <a:extLst>
              <a:ext uri="{FF2B5EF4-FFF2-40B4-BE49-F238E27FC236}">
                <a16:creationId xmlns:a16="http://schemas.microsoft.com/office/drawing/2014/main" id="{48A04E23-99F5-4229-BBD6-B8C2245E7778}"/>
              </a:ext>
            </a:extLst>
          </p:cNvPr>
          <p:cNvSpPr/>
          <p:nvPr/>
        </p:nvSpPr>
        <p:spPr>
          <a:xfrm rot="2160059">
            <a:off x="6915323" y="2615350"/>
            <a:ext cx="1008112" cy="720080"/>
          </a:xfrm>
          <a:prstGeom prst="rightArrow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Flèche droite 9">
            <a:extLst>
              <a:ext uri="{FF2B5EF4-FFF2-40B4-BE49-F238E27FC236}">
                <a16:creationId xmlns:a16="http://schemas.microsoft.com/office/drawing/2014/main" id="{46A6C435-228E-4BFB-ABBC-17686404E2D8}"/>
              </a:ext>
            </a:extLst>
          </p:cNvPr>
          <p:cNvSpPr/>
          <p:nvPr/>
        </p:nvSpPr>
        <p:spPr>
          <a:xfrm>
            <a:off x="6427982" y="3723724"/>
            <a:ext cx="1008112" cy="720080"/>
          </a:xfrm>
          <a:prstGeom prst="rightArrow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Flèche droite 7">
            <a:extLst>
              <a:ext uri="{FF2B5EF4-FFF2-40B4-BE49-F238E27FC236}">
                <a16:creationId xmlns:a16="http://schemas.microsoft.com/office/drawing/2014/main" id="{1A377E1D-D6CE-42F7-8492-7F7B8C8005F5}"/>
              </a:ext>
            </a:extLst>
          </p:cNvPr>
          <p:cNvSpPr/>
          <p:nvPr/>
        </p:nvSpPr>
        <p:spPr>
          <a:xfrm rot="19800000">
            <a:off x="6915323" y="4950342"/>
            <a:ext cx="1008112" cy="720080"/>
          </a:xfrm>
          <a:prstGeom prst="rightArrow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12C68DF-5CDF-447D-A411-9FA8F0AE09FA}"/>
              </a:ext>
            </a:extLst>
          </p:cNvPr>
          <p:cNvSpPr/>
          <p:nvPr/>
        </p:nvSpPr>
        <p:spPr>
          <a:xfrm>
            <a:off x="8035925" y="3528150"/>
            <a:ext cx="946287" cy="946287"/>
          </a:xfrm>
          <a:prstGeom prst="ellipse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9706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fr-CH" dirty="0"/>
              <a:t>Les types de discours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</a:t>
            </a:r>
          </a:p>
          <a:p>
            <a:r>
              <a:rPr lang="fr-CH"/>
              <a:t>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14</a:t>
            </a:fld>
            <a:endParaRPr lang="fr-CH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72E0C0-A286-4FC7-ACC5-496CD52BF495}"/>
              </a:ext>
            </a:extLst>
          </p:cNvPr>
          <p:cNvSpPr txBox="1"/>
          <p:nvPr/>
        </p:nvSpPr>
        <p:spPr>
          <a:xfrm>
            <a:off x="8034357" y="1860712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Judiciaire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6BA731B-6DE5-4DCA-AA06-7530D35F8379}"/>
              </a:ext>
            </a:extLst>
          </p:cNvPr>
          <p:cNvSpPr txBox="1"/>
          <p:nvPr/>
        </p:nvSpPr>
        <p:spPr>
          <a:xfrm>
            <a:off x="840935" y="1882209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Tribunal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958BBC-4638-4EFA-8930-404457DFA0B8}"/>
              </a:ext>
            </a:extLst>
          </p:cNvPr>
          <p:cNvSpPr txBox="1"/>
          <p:nvPr/>
        </p:nvSpPr>
        <p:spPr>
          <a:xfrm>
            <a:off x="8034354" y="2480524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Délibératif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6F7278-FB0A-49DB-9957-5E526397C238}"/>
              </a:ext>
            </a:extLst>
          </p:cNvPr>
          <p:cNvSpPr txBox="1"/>
          <p:nvPr/>
        </p:nvSpPr>
        <p:spPr>
          <a:xfrm>
            <a:off x="838200" y="2496564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 err="1">
                <a:solidFill>
                  <a:srgbClr val="C00000"/>
                </a:solidFill>
              </a:rPr>
              <a:t>Parlement</a:t>
            </a:r>
            <a:r>
              <a:rPr lang="en-GB" sz="3200" b="1" dirty="0">
                <a:solidFill>
                  <a:srgbClr val="C00000"/>
                </a:solidFill>
              </a:rPr>
              <a:t> / politique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939E53-1C05-4C63-8912-441C5C0BC61C}"/>
              </a:ext>
            </a:extLst>
          </p:cNvPr>
          <p:cNvSpPr txBox="1"/>
          <p:nvPr/>
        </p:nvSpPr>
        <p:spPr>
          <a:xfrm>
            <a:off x="8031620" y="3110200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Épidiptique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E86E0D0-BB0C-490A-8041-910C9E312F9C}"/>
              </a:ext>
            </a:extLst>
          </p:cNvPr>
          <p:cNvSpPr txBox="1"/>
          <p:nvPr/>
        </p:nvSpPr>
        <p:spPr>
          <a:xfrm>
            <a:off x="840935" y="3110199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 err="1">
                <a:solidFill>
                  <a:srgbClr val="C00000"/>
                </a:solidFill>
              </a:rPr>
              <a:t>Cérémonie</a:t>
            </a:r>
            <a:endParaRPr lang="en-GB" sz="3200" b="1" dirty="0">
              <a:solidFill>
                <a:srgbClr val="C00000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5726B1F-4DF3-4E05-B62D-EA42BAD17BED}"/>
              </a:ext>
            </a:extLst>
          </p:cNvPr>
          <p:cNvSpPr txBox="1"/>
          <p:nvPr/>
        </p:nvSpPr>
        <p:spPr>
          <a:xfrm>
            <a:off x="8031623" y="3730731"/>
            <a:ext cx="3316704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Encouragement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9C6132-BB18-460D-AE81-5CA707ADDE58}"/>
              </a:ext>
            </a:extLst>
          </p:cNvPr>
          <p:cNvSpPr txBox="1"/>
          <p:nvPr/>
        </p:nvSpPr>
        <p:spPr>
          <a:xfrm>
            <a:off x="840935" y="3724557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Guerre / </a:t>
            </a:r>
            <a:r>
              <a:rPr lang="en-GB" sz="3200" b="1" dirty="0" err="1">
                <a:solidFill>
                  <a:srgbClr val="C00000"/>
                </a:solidFill>
              </a:rPr>
              <a:t>Vestiaire</a:t>
            </a:r>
            <a:endParaRPr lang="en-GB" sz="3200" b="1" dirty="0">
              <a:solidFill>
                <a:srgbClr val="C0000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1237AF2-A576-49D4-B3FA-357A0CB92BD2}"/>
              </a:ext>
            </a:extLst>
          </p:cNvPr>
          <p:cNvSpPr txBox="1"/>
          <p:nvPr/>
        </p:nvSpPr>
        <p:spPr>
          <a:xfrm>
            <a:off x="8031620" y="4359689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Explication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575F060-CCD9-4C7E-B93C-36AD7D1064B6}"/>
              </a:ext>
            </a:extLst>
          </p:cNvPr>
          <p:cNvSpPr txBox="1"/>
          <p:nvPr/>
        </p:nvSpPr>
        <p:spPr>
          <a:xfrm>
            <a:off x="838200" y="4338907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 err="1">
                <a:solidFill>
                  <a:srgbClr val="C00000"/>
                </a:solidFill>
              </a:rPr>
              <a:t>Conférence</a:t>
            </a:r>
            <a:r>
              <a:rPr lang="en-GB" sz="3200" b="1" dirty="0">
                <a:solidFill>
                  <a:srgbClr val="C00000"/>
                </a:solidFill>
              </a:rPr>
              <a:t> de </a:t>
            </a:r>
            <a:r>
              <a:rPr lang="en-GB" sz="3200" b="1" dirty="0" err="1">
                <a:solidFill>
                  <a:srgbClr val="C00000"/>
                </a:solidFill>
              </a:rPr>
              <a:t>presse</a:t>
            </a:r>
            <a:endParaRPr lang="en-GB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51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64BB7-1468-49FF-9A36-A8BD3638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Tribunal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483B0E-75D1-461A-926D-E8BBC150A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Avocat vs Avocat ou Procureur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453590-DB48-4E3C-A2A5-AE89CD78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9B7BFD-5BDC-4FEB-9C46-0270D553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15</a:t>
            </a:fld>
            <a:endParaRPr lang="fr-CH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69586AC-EB23-4674-910D-12EECA132B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020" y="2735099"/>
            <a:ext cx="8417960" cy="333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60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64BB7-1468-49FF-9A36-A8BD3638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Parlement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483B0E-75D1-461A-926D-E8BBC150A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Qui est-ce 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453590-DB48-4E3C-A2A5-AE89CD78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9B7BFD-5BDC-4FEB-9C46-0270D553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16</a:t>
            </a:fld>
            <a:endParaRPr lang="fr-CH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341FE96-3076-4549-B181-D772A94929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656" y="2681072"/>
            <a:ext cx="3198688" cy="318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39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64BB7-1468-49FF-9A36-A8BD3638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Cérémonie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483B0E-75D1-461A-926D-E8BBC150A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Barack Obama : hommage à Nelson Mandela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453590-DB48-4E3C-A2A5-AE89CD78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9B7BFD-5BDC-4FEB-9C46-0270D553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17</a:t>
            </a:fld>
            <a:endParaRPr lang="fr-CH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C0176E6-5961-4E73-BCB6-ADEA55B61B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12"/>
          <a:stretch/>
        </p:blipFill>
        <p:spPr>
          <a:xfrm>
            <a:off x="2318535" y="3050205"/>
            <a:ext cx="7554930" cy="321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4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64BB7-1468-49FF-9A36-A8BD3638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Champ de bataille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453590-DB48-4E3C-A2A5-AE89CD78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9B7BFD-5BDC-4FEB-9C46-0270D553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18</a:t>
            </a:fld>
            <a:endParaRPr lang="fr-CH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95BD4D1A-8135-4671-B12D-58AAD9A4A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7B0E1375-23A2-4D8C-88B8-854B57418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27635"/>
              </p:ext>
            </p:extLst>
          </p:nvPr>
        </p:nvGraphicFramePr>
        <p:xfrm>
          <a:off x="1013717" y="1550703"/>
          <a:ext cx="10164566" cy="4586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2283">
                  <a:extLst>
                    <a:ext uri="{9D8B030D-6E8A-4147-A177-3AD203B41FA5}">
                      <a16:colId xmlns:a16="http://schemas.microsoft.com/office/drawing/2014/main" val="4258186375"/>
                    </a:ext>
                  </a:extLst>
                </a:gridCol>
                <a:gridCol w="5082283">
                  <a:extLst>
                    <a:ext uri="{9D8B030D-6E8A-4147-A177-3AD203B41FA5}">
                      <a16:colId xmlns:a16="http://schemas.microsoft.com/office/drawing/2014/main" val="2450370642"/>
                    </a:ext>
                  </a:extLst>
                </a:gridCol>
              </a:tblGrid>
              <a:tr h="3945971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013959"/>
                  </a:ext>
                </a:extLst>
              </a:tr>
              <a:tr h="554947">
                <a:tc>
                  <a:txBody>
                    <a:bodyPr/>
                    <a:lstStyle/>
                    <a:p>
                      <a:pPr algn="ctr"/>
                      <a:r>
                        <a:rPr lang="fr-CH" sz="3600" b="1" dirty="0">
                          <a:solidFill>
                            <a:srgbClr val="C00000"/>
                          </a:solidFill>
                        </a:rPr>
                        <a:t>Churchill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36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Pogba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62966"/>
                  </a:ext>
                </a:extLst>
              </a:tr>
            </a:tbl>
          </a:graphicData>
        </a:graphic>
      </p:graphicFrame>
      <p:pic>
        <p:nvPicPr>
          <p:cNvPr id="11" name="Image 10">
            <a:extLst>
              <a:ext uri="{FF2B5EF4-FFF2-40B4-BE49-F238E27FC236}">
                <a16:creationId xmlns:a16="http://schemas.microsoft.com/office/drawing/2014/main" id="{DD0C2635-1341-4CED-885B-92ABA7BEC2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886" y="1803820"/>
            <a:ext cx="4662754" cy="349968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893CFF6-6A0E-4D23-A494-3BE80CA9D3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7000" contrast="-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41" r="13441" b="8617"/>
          <a:stretch/>
        </p:blipFill>
        <p:spPr>
          <a:xfrm>
            <a:off x="6250433" y="1911078"/>
            <a:ext cx="4720334" cy="331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01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64BB7-1468-49FF-9A36-A8BD3638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Conférence de presse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483B0E-75D1-461A-926D-E8BBC150A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Où est-ce ? Que sont ces mains 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453590-DB48-4E3C-A2A5-AE89CD78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9B7BFD-5BDC-4FEB-9C46-0270D553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19</a:t>
            </a:fld>
            <a:endParaRPr lang="fr-CH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373896B-8998-4F9F-8AE5-D72E90BA9C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791" y="2515275"/>
            <a:ext cx="6486418" cy="36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4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Feuille de route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20</a:t>
            </a:fld>
            <a:endParaRPr lang="fr-CH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72E0C0-A286-4FC7-ACC5-496CD52BF495}"/>
              </a:ext>
            </a:extLst>
          </p:cNvPr>
          <p:cNvSpPr txBox="1"/>
          <p:nvPr/>
        </p:nvSpPr>
        <p:spPr>
          <a:xfrm>
            <a:off x="8037095" y="1902998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Invention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6BA731B-6DE5-4DCA-AA06-7530D35F8379}"/>
              </a:ext>
            </a:extLst>
          </p:cNvPr>
          <p:cNvSpPr txBox="1"/>
          <p:nvPr/>
        </p:nvSpPr>
        <p:spPr>
          <a:xfrm>
            <a:off x="838201" y="1902996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Arguments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958BBC-4638-4EFA-8930-404457DFA0B8}"/>
              </a:ext>
            </a:extLst>
          </p:cNvPr>
          <p:cNvSpPr txBox="1"/>
          <p:nvPr/>
        </p:nvSpPr>
        <p:spPr>
          <a:xfrm>
            <a:off x="8037095" y="2517351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Disposition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6F7278-FB0A-49DB-9957-5E526397C238}"/>
              </a:ext>
            </a:extLst>
          </p:cNvPr>
          <p:cNvSpPr txBox="1"/>
          <p:nvPr/>
        </p:nvSpPr>
        <p:spPr>
          <a:xfrm>
            <a:off x="838201" y="2517349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Structure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939E53-1C05-4C63-8912-441C5C0BC61C}"/>
              </a:ext>
            </a:extLst>
          </p:cNvPr>
          <p:cNvSpPr txBox="1"/>
          <p:nvPr/>
        </p:nvSpPr>
        <p:spPr>
          <a:xfrm>
            <a:off x="8037095" y="3131706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Élocution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E86E0D0-BB0C-490A-8041-910C9E312F9C}"/>
              </a:ext>
            </a:extLst>
          </p:cNvPr>
          <p:cNvSpPr txBox="1"/>
          <p:nvPr/>
        </p:nvSpPr>
        <p:spPr>
          <a:xfrm>
            <a:off x="838201" y="3131704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Style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5726B1F-4DF3-4E05-B62D-EA42BAD17BED}"/>
              </a:ext>
            </a:extLst>
          </p:cNvPr>
          <p:cNvSpPr txBox="1"/>
          <p:nvPr/>
        </p:nvSpPr>
        <p:spPr>
          <a:xfrm>
            <a:off x="8037095" y="3746059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Action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9C6132-BB18-460D-AE81-5CA707ADDE58}"/>
              </a:ext>
            </a:extLst>
          </p:cNvPr>
          <p:cNvSpPr txBox="1"/>
          <p:nvPr/>
        </p:nvSpPr>
        <p:spPr>
          <a:xfrm>
            <a:off x="838201" y="3746057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 err="1">
                <a:solidFill>
                  <a:srgbClr val="C00000"/>
                </a:solidFill>
              </a:rPr>
              <a:t>Présence</a:t>
            </a:r>
            <a:r>
              <a:rPr lang="en-GB" sz="3200" b="1" dirty="0">
                <a:solidFill>
                  <a:srgbClr val="C00000"/>
                </a:solidFill>
              </a:rPr>
              <a:t> : </a:t>
            </a:r>
            <a:r>
              <a:rPr lang="en-GB" sz="3200" b="1" dirty="0" err="1">
                <a:solidFill>
                  <a:srgbClr val="C00000"/>
                </a:solidFill>
              </a:rPr>
              <a:t>voix</a:t>
            </a:r>
            <a:r>
              <a:rPr lang="en-GB" sz="3200" b="1" dirty="0">
                <a:solidFill>
                  <a:srgbClr val="C00000"/>
                </a:solidFill>
              </a:rPr>
              <a:t> et corps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1237AF2-A576-49D4-B3FA-357A0CB92BD2}"/>
              </a:ext>
            </a:extLst>
          </p:cNvPr>
          <p:cNvSpPr txBox="1"/>
          <p:nvPr/>
        </p:nvSpPr>
        <p:spPr>
          <a:xfrm>
            <a:off x="8037095" y="4360414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Mémoire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575F060-CCD9-4C7E-B93C-36AD7D1064B6}"/>
              </a:ext>
            </a:extLst>
          </p:cNvPr>
          <p:cNvSpPr txBox="1"/>
          <p:nvPr/>
        </p:nvSpPr>
        <p:spPr>
          <a:xfrm>
            <a:off x="838201" y="4360412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 err="1">
                <a:solidFill>
                  <a:srgbClr val="C00000"/>
                </a:solidFill>
              </a:rPr>
              <a:t>Mémoire</a:t>
            </a:r>
            <a:endParaRPr lang="en-GB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42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47EB4-83B5-4FCD-A4D5-EFC5E3CC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L’art oratoire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B94869-DBBA-44F4-9F2B-2DFC238BC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indent="-742950">
              <a:buAutoNum type="alphaUcPeriod"/>
            </a:pPr>
            <a:r>
              <a:rPr lang="fr-CH" b="1" dirty="0"/>
              <a:t>Quel objectif ?</a:t>
            </a:r>
          </a:p>
          <a:p>
            <a:pPr marL="742950" indent="-742950">
              <a:buAutoNum type="alphaUcPeriod"/>
            </a:pPr>
            <a:endParaRPr lang="fr-CH" b="1" dirty="0"/>
          </a:p>
          <a:p>
            <a:pPr marL="742950" indent="-742950">
              <a:buAutoNum type="alphaUcPeriod"/>
            </a:pPr>
            <a:r>
              <a:rPr lang="fr-CH" b="1" dirty="0"/>
              <a:t>Immoral ?</a:t>
            </a:r>
          </a:p>
          <a:p>
            <a:pPr marL="914377" lvl="2" indent="0">
              <a:buNone/>
            </a:pPr>
            <a:endParaRPr lang="fr-CH" dirty="0"/>
          </a:p>
          <a:p>
            <a:pPr marL="914377" lvl="2" indent="0">
              <a:buNone/>
            </a:pPr>
            <a:r>
              <a:rPr lang="fr-CH" dirty="0"/>
              <a:t>Si les </a:t>
            </a:r>
            <a:r>
              <a:rPr lang="fr-CH" u="sng" dirty="0"/>
              <a:t>menteurs</a:t>
            </a:r>
            <a:r>
              <a:rPr lang="fr-CH" dirty="0"/>
              <a:t> s’en servent parfois (p.ex. Brexit)…</a:t>
            </a:r>
          </a:p>
          <a:p>
            <a:pPr marL="914377" lvl="2" indent="0">
              <a:buNone/>
            </a:pPr>
            <a:endParaRPr lang="fr-CH" dirty="0"/>
          </a:p>
          <a:p>
            <a:pPr marL="914377" lvl="2" indent="0">
              <a:buNone/>
            </a:pPr>
            <a:r>
              <a:rPr lang="fr-CH" dirty="0"/>
              <a:t>…pourquoi pas </a:t>
            </a:r>
            <a:r>
              <a:rPr lang="fr-CH" u="sng" dirty="0"/>
              <a:t>ceux qui défendent la vérité</a:t>
            </a:r>
            <a:r>
              <a:rPr lang="fr-CH" dirty="0"/>
              <a:t> d’être aussi bien armés ?</a:t>
            </a:r>
          </a:p>
          <a:p>
            <a:pPr marL="742950" indent="-742950">
              <a:buAutoNum type="alphaUcPeriod"/>
            </a:pPr>
            <a:endParaRPr lang="fr-CH" b="1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A13776-E461-42BF-ACF6-15E3F07F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1D3F86-D66D-4BA4-9673-88767566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21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20099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Feuille de route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22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687E68BC-39EE-4921-88BD-D592874470A9}"/>
              </a:ext>
            </a:extLst>
          </p:cNvPr>
          <p:cNvGrpSpPr/>
          <p:nvPr/>
        </p:nvGrpSpPr>
        <p:grpSpPr>
          <a:xfrm>
            <a:off x="838201" y="1902996"/>
            <a:ext cx="10515601" cy="3071773"/>
            <a:chOff x="838201" y="1902996"/>
            <a:chExt cx="10515601" cy="3071773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Invention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Arguments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Disposition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Structure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Élocution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Style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Action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Présence</a:t>
              </a:r>
              <a:r>
                <a:rPr lang="en-GB" sz="3200" b="1" dirty="0">
                  <a:solidFill>
                    <a:srgbClr val="C00000"/>
                  </a:solidFill>
                </a:rPr>
                <a:t> : </a:t>
              </a:r>
              <a:r>
                <a:rPr lang="en-GB" sz="3200" b="1" dirty="0" err="1">
                  <a:solidFill>
                    <a:srgbClr val="C00000"/>
                  </a:solidFill>
                </a:rPr>
                <a:t>voix</a:t>
              </a:r>
              <a:r>
                <a:rPr lang="en-GB" sz="3200" b="1" dirty="0">
                  <a:solidFill>
                    <a:srgbClr val="C00000"/>
                  </a:solidFill>
                </a:rPr>
                <a:t> et corps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Mémoire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Mémoire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B49CB2DD-2899-40AF-8716-C9DE47DE1924}"/>
              </a:ext>
            </a:extLst>
          </p:cNvPr>
          <p:cNvSpPr/>
          <p:nvPr/>
        </p:nvSpPr>
        <p:spPr>
          <a:xfrm>
            <a:off x="3145743" y="1830026"/>
            <a:ext cx="2583810" cy="826659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2713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47EB4-83B5-4FCD-A4D5-EFC5E3CC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Arguments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B94869-DBBA-44F4-9F2B-2DFC238BC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CH" b="1" dirty="0"/>
              <a:t>A. Quels types/sources ?</a:t>
            </a:r>
          </a:p>
          <a:p>
            <a:pPr lvl="1"/>
            <a:r>
              <a:rPr lang="fr-CH" dirty="0"/>
              <a:t>Logique / pas logique</a:t>
            </a:r>
          </a:p>
          <a:p>
            <a:pPr lvl="1"/>
            <a:r>
              <a:rPr lang="fr-CH" dirty="0"/>
              <a:t>La tradition</a:t>
            </a:r>
          </a:p>
          <a:p>
            <a:pPr lvl="1"/>
            <a:r>
              <a:rPr lang="fr-CH" dirty="0"/>
              <a:t>La religion</a:t>
            </a:r>
          </a:p>
          <a:p>
            <a:pPr lvl="1"/>
            <a:r>
              <a:rPr lang="fr-CH" dirty="0"/>
              <a:t>La loi</a:t>
            </a:r>
          </a:p>
          <a:p>
            <a:pPr lvl="1"/>
            <a:r>
              <a:rPr lang="fr-CH" dirty="0"/>
              <a:t>Les valeurs</a:t>
            </a:r>
          </a:p>
          <a:p>
            <a:pPr lvl="1"/>
            <a:r>
              <a:rPr lang="fr-CH" dirty="0"/>
              <a:t>Les émotions</a:t>
            </a:r>
          </a:p>
          <a:p>
            <a:pPr lvl="1"/>
            <a:r>
              <a:rPr lang="fr-CH" dirty="0"/>
              <a:t>L’histoire</a:t>
            </a:r>
          </a:p>
          <a:p>
            <a:pPr lvl="1"/>
            <a:r>
              <a:rPr lang="fr-CH" dirty="0"/>
              <a:t>La philosophie</a:t>
            </a:r>
          </a:p>
          <a:p>
            <a:pPr lvl="1"/>
            <a:r>
              <a:rPr lang="fr-CH" dirty="0"/>
              <a:t>L’argument d’autorité</a:t>
            </a:r>
          </a:p>
          <a:p>
            <a:pPr lvl="1"/>
            <a:r>
              <a:rPr lang="fr-CH" dirty="0"/>
              <a:t>Etc.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A13776-E461-42BF-ACF6-15E3F07F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1D3F86-D66D-4BA4-9673-88767566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23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89522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47EB4-83B5-4FCD-A4D5-EFC5E3CC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Arguments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B94869-DBBA-44F4-9F2B-2DFC238BC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CH" b="1" dirty="0"/>
              <a:t>B. Trois étapes</a:t>
            </a:r>
          </a:p>
          <a:p>
            <a:pPr lvl="1"/>
            <a:r>
              <a:rPr lang="fr-CH" dirty="0"/>
              <a:t>Ouvrir l’éventail</a:t>
            </a:r>
          </a:p>
          <a:p>
            <a:pPr lvl="1"/>
            <a:endParaRPr lang="fr-CH" dirty="0"/>
          </a:p>
          <a:p>
            <a:pPr lvl="1"/>
            <a:r>
              <a:rPr lang="fr-CH" dirty="0"/>
              <a:t>Garder les meilleurs arguments</a:t>
            </a:r>
          </a:p>
          <a:p>
            <a:pPr lvl="2"/>
            <a:r>
              <a:rPr lang="fr-CH" dirty="0"/>
              <a:t>Efficacité</a:t>
            </a:r>
          </a:p>
          <a:p>
            <a:pPr lvl="2"/>
            <a:r>
              <a:rPr lang="fr-CH" dirty="0"/>
              <a:t>Lien avec le débat</a:t>
            </a:r>
          </a:p>
          <a:p>
            <a:pPr lvl="2"/>
            <a:endParaRPr lang="fr-CH" dirty="0"/>
          </a:p>
          <a:p>
            <a:pPr lvl="1"/>
            <a:r>
              <a:rPr lang="fr-CH" dirty="0"/>
              <a:t>Mettre de l’ordre</a:t>
            </a:r>
          </a:p>
          <a:p>
            <a:pPr lvl="2"/>
            <a:r>
              <a:rPr lang="fr-CH" dirty="0"/>
              <a:t>Fort - Moyen - Fort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A13776-E461-42BF-ACF6-15E3F07F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1D3F86-D66D-4BA4-9673-88767566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24</a:t>
            </a:fld>
            <a:endParaRPr lang="fr-CH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AB28B919-E82C-4FEA-AC1A-32550FDF4EBB}"/>
              </a:ext>
            </a:extLst>
          </p:cNvPr>
          <p:cNvGrpSpPr/>
          <p:nvPr/>
        </p:nvGrpSpPr>
        <p:grpSpPr>
          <a:xfrm>
            <a:off x="7719737" y="1417639"/>
            <a:ext cx="2896928" cy="2896928"/>
            <a:chOff x="6372200" y="1417638"/>
            <a:chExt cx="2314600" cy="2314600"/>
          </a:xfrm>
        </p:grpSpPr>
        <p:sp>
          <p:nvSpPr>
            <p:cNvPr id="7" name="Secteurs 12">
              <a:extLst>
                <a:ext uri="{FF2B5EF4-FFF2-40B4-BE49-F238E27FC236}">
                  <a16:creationId xmlns:a16="http://schemas.microsoft.com/office/drawing/2014/main" id="{5C198DCF-0FA7-4B46-B9DB-B0DF5F6736D9}"/>
                </a:ext>
              </a:extLst>
            </p:cNvPr>
            <p:cNvSpPr/>
            <p:nvPr/>
          </p:nvSpPr>
          <p:spPr>
            <a:xfrm>
              <a:off x="6372200" y="1417638"/>
              <a:ext cx="2314600" cy="2314600"/>
            </a:xfrm>
            <a:prstGeom prst="pie">
              <a:avLst>
                <a:gd name="adj1" fmla="val 10824447"/>
                <a:gd name="adj2" fmla="val 39540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8" name="Flèche en arc 13">
              <a:extLst>
                <a:ext uri="{FF2B5EF4-FFF2-40B4-BE49-F238E27FC236}">
                  <a16:creationId xmlns:a16="http://schemas.microsoft.com/office/drawing/2014/main" id="{D38B1496-2FF1-4560-9966-D4EA2EEFD364}"/>
                </a:ext>
              </a:extLst>
            </p:cNvPr>
            <p:cNvSpPr/>
            <p:nvPr/>
          </p:nvSpPr>
          <p:spPr>
            <a:xfrm>
              <a:off x="6553200" y="1600199"/>
              <a:ext cx="1879300" cy="1543067"/>
            </a:xfrm>
            <a:prstGeom prst="circularArrow">
              <a:avLst/>
            </a:prstGeom>
            <a:solidFill>
              <a:srgbClr val="A91C2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9" name="Triangle isocèle 8">
            <a:extLst>
              <a:ext uri="{FF2B5EF4-FFF2-40B4-BE49-F238E27FC236}">
                <a16:creationId xmlns:a16="http://schemas.microsoft.com/office/drawing/2014/main" id="{BCF37657-FD8B-4FCF-8BDF-037E1B02DDF1}"/>
              </a:ext>
            </a:extLst>
          </p:cNvPr>
          <p:cNvSpPr/>
          <p:nvPr/>
        </p:nvSpPr>
        <p:spPr>
          <a:xfrm>
            <a:off x="8219647" y="3134431"/>
            <a:ext cx="1805368" cy="1556351"/>
          </a:xfrm>
          <a:prstGeom prst="triangle">
            <a:avLst/>
          </a:prstGeom>
          <a:solidFill>
            <a:srgbClr val="A91C2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Flèche droite 16">
            <a:extLst>
              <a:ext uri="{FF2B5EF4-FFF2-40B4-BE49-F238E27FC236}">
                <a16:creationId xmlns:a16="http://schemas.microsoft.com/office/drawing/2014/main" id="{D7BAFDE3-5BF1-4C8B-84ED-9A0E9AB4CD73}"/>
              </a:ext>
            </a:extLst>
          </p:cNvPr>
          <p:cNvSpPr/>
          <p:nvPr/>
        </p:nvSpPr>
        <p:spPr>
          <a:xfrm>
            <a:off x="8258818" y="5346655"/>
            <a:ext cx="1867700" cy="553433"/>
          </a:xfrm>
          <a:prstGeom prst="rightArrow">
            <a:avLst/>
          </a:prstGeom>
          <a:solidFill>
            <a:srgbClr val="A91C2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0724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47EB4-83B5-4FCD-A4D5-EFC5E3CC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Arguments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B94869-DBBA-44F4-9F2B-2DFC238BC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H" b="1" dirty="0"/>
              <a:t>B. 1</a:t>
            </a:r>
            <a:r>
              <a:rPr lang="fr-CH" b="1" baseline="30000" dirty="0"/>
              <a:t>ère</a:t>
            </a:r>
            <a:r>
              <a:rPr lang="fr-CH" b="1" dirty="0"/>
              <a:t> étape</a:t>
            </a:r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A13776-E461-42BF-ACF6-15E3F07F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1D3F86-D66D-4BA4-9673-88767566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25</a:t>
            </a:fld>
            <a:endParaRPr lang="fr-C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688F30-9395-4216-99E4-B201A164EC1C}"/>
              </a:ext>
            </a:extLst>
          </p:cNvPr>
          <p:cNvSpPr/>
          <p:nvPr/>
        </p:nvSpPr>
        <p:spPr>
          <a:xfrm>
            <a:off x="5712105" y="3181889"/>
            <a:ext cx="1229802" cy="532734"/>
          </a:xfrm>
          <a:prstGeom prst="rect">
            <a:avLst/>
          </a:prstGeom>
          <a:solidFill>
            <a:srgbClr val="A91C2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C6C9D7-F6E6-4618-9926-8F55A1F2E5D6}"/>
              </a:ext>
            </a:extLst>
          </p:cNvPr>
          <p:cNvSpPr/>
          <p:nvPr/>
        </p:nvSpPr>
        <p:spPr>
          <a:xfrm>
            <a:off x="7380798" y="400129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533D93-6839-4247-BCEE-EC1C068064B9}"/>
              </a:ext>
            </a:extLst>
          </p:cNvPr>
          <p:cNvSpPr/>
          <p:nvPr/>
        </p:nvSpPr>
        <p:spPr>
          <a:xfrm>
            <a:off x="9600016" y="4935073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4F08F-6CC2-4726-9BED-A07237E124FF}"/>
              </a:ext>
            </a:extLst>
          </p:cNvPr>
          <p:cNvSpPr/>
          <p:nvPr/>
        </p:nvSpPr>
        <p:spPr>
          <a:xfrm>
            <a:off x="9104522" y="571151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F769BE-7A3C-41A1-88EE-C583D9623084}"/>
              </a:ext>
            </a:extLst>
          </p:cNvPr>
          <p:cNvSpPr/>
          <p:nvPr/>
        </p:nvSpPr>
        <p:spPr>
          <a:xfrm>
            <a:off x="9600016" y="400129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9C0933-60DA-4C0D-8761-53B727B475B2}"/>
              </a:ext>
            </a:extLst>
          </p:cNvPr>
          <p:cNvSpPr/>
          <p:nvPr/>
        </p:nvSpPr>
        <p:spPr>
          <a:xfrm>
            <a:off x="7380798" y="2630325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7A849D-8FC3-4CC9-A027-8F9921F4381E}"/>
              </a:ext>
            </a:extLst>
          </p:cNvPr>
          <p:cNvSpPr/>
          <p:nvPr/>
        </p:nvSpPr>
        <p:spPr>
          <a:xfrm>
            <a:off x="9600016" y="2649155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FA0203-85B3-4CE4-822A-96F9DFFAF1EF}"/>
              </a:ext>
            </a:extLst>
          </p:cNvPr>
          <p:cNvSpPr/>
          <p:nvPr/>
        </p:nvSpPr>
        <p:spPr>
          <a:xfrm>
            <a:off x="9533158" y="1603716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202E8C-BF8B-4E49-ABC0-675D4D919FA3}"/>
              </a:ext>
            </a:extLst>
          </p:cNvPr>
          <p:cNvSpPr/>
          <p:nvPr/>
        </p:nvSpPr>
        <p:spPr>
          <a:xfrm>
            <a:off x="1728916" y="400129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5655C7-748A-41AF-871E-59735C97E3E8}"/>
              </a:ext>
            </a:extLst>
          </p:cNvPr>
          <p:cNvSpPr/>
          <p:nvPr/>
        </p:nvSpPr>
        <p:spPr>
          <a:xfrm>
            <a:off x="1739103" y="3029569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AD5515-B623-42A6-ADFA-6016C853615D}"/>
              </a:ext>
            </a:extLst>
          </p:cNvPr>
          <p:cNvSpPr/>
          <p:nvPr/>
        </p:nvSpPr>
        <p:spPr>
          <a:xfrm>
            <a:off x="1728916" y="4935073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24E2B7-E1D2-4E21-9F82-5EB39CC50FCF}"/>
              </a:ext>
            </a:extLst>
          </p:cNvPr>
          <p:cNvSpPr/>
          <p:nvPr/>
        </p:nvSpPr>
        <p:spPr>
          <a:xfrm>
            <a:off x="3948134" y="400129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8429E7-1B47-4F28-8539-F71D212523F7}"/>
              </a:ext>
            </a:extLst>
          </p:cNvPr>
          <p:cNvSpPr/>
          <p:nvPr/>
        </p:nvSpPr>
        <p:spPr>
          <a:xfrm>
            <a:off x="3948134" y="256530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02356B50-CE94-4D3E-99E7-DF08CAA30DDC}"/>
              </a:ext>
            </a:extLst>
          </p:cNvPr>
          <p:cNvCxnSpPr>
            <a:stCxn id="16" idx="1"/>
            <a:endCxn id="11" idx="3"/>
          </p:cNvCxnSpPr>
          <p:nvPr/>
        </p:nvCxnSpPr>
        <p:spPr>
          <a:xfrm flipH="1">
            <a:off x="6941907" y="2896692"/>
            <a:ext cx="438891" cy="551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EFC42BD-C689-403F-B087-8A8B53ECA768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8610600" y="2896692"/>
            <a:ext cx="989416" cy="18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6E7E94CB-A953-4D90-8FC6-5BECC819FF25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 flipV="1">
            <a:off x="6941907" y="3448256"/>
            <a:ext cx="438891" cy="819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D58A47B6-D22D-480B-B058-38659B3F125B}"/>
              </a:ext>
            </a:extLst>
          </p:cNvPr>
          <p:cNvCxnSpPr/>
          <p:nvPr/>
        </p:nvCxnSpPr>
        <p:spPr>
          <a:xfrm>
            <a:off x="8610600" y="4269505"/>
            <a:ext cx="989416" cy="18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B5CA0672-E130-4295-AC64-0F22C82CFAFD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8610600" y="4267661"/>
            <a:ext cx="989416" cy="933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423A768B-A664-46F4-BD42-826060F57B7D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8610600" y="4267661"/>
            <a:ext cx="493922" cy="1710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88A35178-8718-4BC6-BB34-74F35D984FDC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8610600" y="1870083"/>
            <a:ext cx="922558" cy="1026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895C2C04-9980-4198-9668-7BFEB59C2590}"/>
              </a:ext>
            </a:extLst>
          </p:cNvPr>
          <p:cNvCxnSpPr>
            <a:cxnSpLocks/>
            <a:stCxn id="11" idx="1"/>
            <a:endCxn id="23" idx="3"/>
          </p:cNvCxnSpPr>
          <p:nvPr/>
        </p:nvCxnSpPr>
        <p:spPr>
          <a:xfrm flipH="1" flipV="1">
            <a:off x="5177936" y="2831671"/>
            <a:ext cx="534169" cy="616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F1AA8266-1273-4E62-BE2B-CF9C4423EE29}"/>
              </a:ext>
            </a:extLst>
          </p:cNvPr>
          <p:cNvCxnSpPr>
            <a:cxnSpLocks/>
            <a:stCxn id="11" idx="1"/>
            <a:endCxn id="22" idx="3"/>
          </p:cNvCxnSpPr>
          <p:nvPr/>
        </p:nvCxnSpPr>
        <p:spPr>
          <a:xfrm flipH="1">
            <a:off x="5177936" y="3448256"/>
            <a:ext cx="534169" cy="819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A7D1AFAA-21F7-4EAE-85CE-8D0A33530D3F}"/>
              </a:ext>
            </a:extLst>
          </p:cNvPr>
          <p:cNvCxnSpPr>
            <a:cxnSpLocks/>
            <a:stCxn id="22" idx="1"/>
            <a:endCxn id="21" idx="3"/>
          </p:cNvCxnSpPr>
          <p:nvPr/>
        </p:nvCxnSpPr>
        <p:spPr>
          <a:xfrm flipH="1">
            <a:off x="2958718" y="4267661"/>
            <a:ext cx="989416" cy="933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B812A769-1A6E-43A7-93A3-41248ED73DA5}"/>
              </a:ext>
            </a:extLst>
          </p:cNvPr>
          <p:cNvCxnSpPr>
            <a:cxnSpLocks/>
            <a:stCxn id="22" idx="1"/>
            <a:endCxn id="19" idx="3"/>
          </p:cNvCxnSpPr>
          <p:nvPr/>
        </p:nvCxnSpPr>
        <p:spPr>
          <a:xfrm flipH="1">
            <a:off x="2958718" y="4267661"/>
            <a:ext cx="989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1A903055-4617-4775-9962-62511B186E76}"/>
              </a:ext>
            </a:extLst>
          </p:cNvPr>
          <p:cNvCxnSpPr>
            <a:cxnSpLocks/>
            <a:stCxn id="22" idx="1"/>
            <a:endCxn id="20" idx="3"/>
          </p:cNvCxnSpPr>
          <p:nvPr/>
        </p:nvCxnSpPr>
        <p:spPr>
          <a:xfrm flipH="1" flipV="1">
            <a:off x="2968905" y="3295936"/>
            <a:ext cx="979229" cy="971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597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7187B6-DE1A-4E3E-99C1-3170128E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Arguments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F88198-B068-440C-A2FB-1BEB2C712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Exercices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37A711-E660-4A10-9C99-CCFEF12D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 dirty="0"/>
              <a:t>Nicolas Gurtner ©                                             Convaincre : la puissance du discours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9F1B72-0A58-4945-9099-5144B12F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26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41663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Feuille de route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27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687E68BC-39EE-4921-88BD-D592874470A9}"/>
              </a:ext>
            </a:extLst>
          </p:cNvPr>
          <p:cNvGrpSpPr/>
          <p:nvPr/>
        </p:nvGrpSpPr>
        <p:grpSpPr>
          <a:xfrm>
            <a:off x="838201" y="1902996"/>
            <a:ext cx="10515601" cy="3071773"/>
            <a:chOff x="838201" y="1902996"/>
            <a:chExt cx="10515601" cy="3071773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Invention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Arguments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Disposition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Structure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Élocution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Style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Action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Présence</a:t>
              </a:r>
              <a:r>
                <a:rPr lang="en-GB" sz="3200" b="1" dirty="0">
                  <a:solidFill>
                    <a:srgbClr val="C00000"/>
                  </a:solidFill>
                </a:rPr>
                <a:t> : </a:t>
              </a:r>
              <a:r>
                <a:rPr lang="en-GB" sz="3200" b="1" dirty="0" err="1">
                  <a:solidFill>
                    <a:srgbClr val="C00000"/>
                  </a:solidFill>
                </a:rPr>
                <a:t>voix</a:t>
              </a:r>
              <a:r>
                <a:rPr lang="en-GB" sz="3200" b="1" dirty="0">
                  <a:solidFill>
                    <a:srgbClr val="C00000"/>
                  </a:solidFill>
                </a:rPr>
                <a:t> et corps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Mémoire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Mémoire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B49CB2DD-2899-40AF-8716-C9DE47DE1924}"/>
              </a:ext>
            </a:extLst>
          </p:cNvPr>
          <p:cNvSpPr/>
          <p:nvPr/>
        </p:nvSpPr>
        <p:spPr>
          <a:xfrm>
            <a:off x="3145743" y="2411196"/>
            <a:ext cx="2583810" cy="826659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8095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Structure : six étapes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28</a:t>
            </a:fld>
            <a:endParaRPr lang="fr-CH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72E0C0-A286-4FC7-ACC5-496CD52BF495}"/>
              </a:ext>
            </a:extLst>
          </p:cNvPr>
          <p:cNvSpPr txBox="1"/>
          <p:nvPr/>
        </p:nvSpPr>
        <p:spPr>
          <a:xfrm>
            <a:off x="8037095" y="1902998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Exorde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6BA731B-6DE5-4DCA-AA06-7530D35F8379}"/>
              </a:ext>
            </a:extLst>
          </p:cNvPr>
          <p:cNvSpPr txBox="1"/>
          <p:nvPr/>
        </p:nvSpPr>
        <p:spPr>
          <a:xfrm>
            <a:off x="838201" y="1902996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958BBC-4638-4EFA-8930-404457DFA0B8}"/>
              </a:ext>
            </a:extLst>
          </p:cNvPr>
          <p:cNvSpPr txBox="1"/>
          <p:nvPr/>
        </p:nvSpPr>
        <p:spPr>
          <a:xfrm>
            <a:off x="8037095" y="2517351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Narration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6F7278-FB0A-49DB-9957-5E526397C238}"/>
              </a:ext>
            </a:extLst>
          </p:cNvPr>
          <p:cNvSpPr txBox="1"/>
          <p:nvPr/>
        </p:nvSpPr>
        <p:spPr>
          <a:xfrm>
            <a:off x="838201" y="2517349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i="1" dirty="0">
                <a:solidFill>
                  <a:srgbClr val="C00000"/>
                </a:solidFill>
              </a:rPr>
              <a:t>(Les </a:t>
            </a:r>
            <a:r>
              <a:rPr lang="en-GB" sz="3200" b="1" i="1" dirty="0" err="1">
                <a:solidFill>
                  <a:srgbClr val="C00000"/>
                </a:solidFill>
              </a:rPr>
              <a:t>faits</a:t>
            </a:r>
            <a:r>
              <a:rPr lang="en-GB" sz="3200" b="1" i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939E53-1C05-4C63-8912-441C5C0BC61C}"/>
              </a:ext>
            </a:extLst>
          </p:cNvPr>
          <p:cNvSpPr txBox="1"/>
          <p:nvPr/>
        </p:nvSpPr>
        <p:spPr>
          <a:xfrm>
            <a:off x="8037095" y="3131706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Division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E86E0D0-BB0C-490A-8041-910C9E312F9C}"/>
              </a:ext>
            </a:extLst>
          </p:cNvPr>
          <p:cNvSpPr txBox="1"/>
          <p:nvPr/>
        </p:nvSpPr>
        <p:spPr>
          <a:xfrm>
            <a:off x="838201" y="3131704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 err="1">
                <a:solidFill>
                  <a:srgbClr val="C00000"/>
                </a:solidFill>
              </a:rPr>
              <a:t>Annonce</a:t>
            </a:r>
            <a:r>
              <a:rPr lang="en-GB" sz="3200" b="1" dirty="0">
                <a:solidFill>
                  <a:srgbClr val="C00000"/>
                </a:solidFill>
              </a:rPr>
              <a:t> de la suite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5726B1F-4DF3-4E05-B62D-EA42BAD17BED}"/>
              </a:ext>
            </a:extLst>
          </p:cNvPr>
          <p:cNvSpPr txBox="1"/>
          <p:nvPr/>
        </p:nvSpPr>
        <p:spPr>
          <a:xfrm>
            <a:off x="8037095" y="3746059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Confirmation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9C6132-BB18-460D-AE81-5CA707ADDE58}"/>
              </a:ext>
            </a:extLst>
          </p:cNvPr>
          <p:cNvSpPr txBox="1"/>
          <p:nvPr/>
        </p:nvSpPr>
        <p:spPr>
          <a:xfrm>
            <a:off x="838201" y="3746057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Vos arguments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1237AF2-A576-49D4-B3FA-357A0CB92BD2}"/>
              </a:ext>
            </a:extLst>
          </p:cNvPr>
          <p:cNvSpPr txBox="1"/>
          <p:nvPr/>
        </p:nvSpPr>
        <p:spPr>
          <a:xfrm>
            <a:off x="8037095" y="4360414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Réfutation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575F060-CCD9-4C7E-B93C-36AD7D1064B6}"/>
              </a:ext>
            </a:extLst>
          </p:cNvPr>
          <p:cNvSpPr txBox="1"/>
          <p:nvPr/>
        </p:nvSpPr>
        <p:spPr>
          <a:xfrm>
            <a:off x="838201" y="4360412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Les arguments de </a:t>
            </a:r>
            <a:r>
              <a:rPr lang="en-GB" sz="3200" b="1" dirty="0" err="1">
                <a:solidFill>
                  <a:srgbClr val="C00000"/>
                </a:solidFill>
              </a:rPr>
              <a:t>l’adversaire</a:t>
            </a:r>
            <a:endParaRPr lang="en-GB" sz="3200" b="1" dirty="0">
              <a:solidFill>
                <a:srgbClr val="C0000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48EDF20-8157-492F-BB76-33F8CE854400}"/>
              </a:ext>
            </a:extLst>
          </p:cNvPr>
          <p:cNvSpPr txBox="1"/>
          <p:nvPr/>
        </p:nvSpPr>
        <p:spPr>
          <a:xfrm>
            <a:off x="8037095" y="4974767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Péroraison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AE682BD-B24A-48D0-A030-33BA03D5E3DF}"/>
              </a:ext>
            </a:extLst>
          </p:cNvPr>
          <p:cNvSpPr txBox="1"/>
          <p:nvPr/>
        </p:nvSpPr>
        <p:spPr>
          <a:xfrm>
            <a:off x="838201" y="4974765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2315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Structure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29</a:t>
            </a:fld>
            <a:endParaRPr lang="fr-CH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2AB3819F-DA9F-48DD-8AA7-0C72829BF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7"/>
            <a:ext cx="10515600" cy="4351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b="1" dirty="0"/>
              <a:t>… pour la prochaine fois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36974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Feuille de route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30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687E68BC-39EE-4921-88BD-D592874470A9}"/>
              </a:ext>
            </a:extLst>
          </p:cNvPr>
          <p:cNvGrpSpPr/>
          <p:nvPr/>
        </p:nvGrpSpPr>
        <p:grpSpPr>
          <a:xfrm>
            <a:off x="838201" y="1902996"/>
            <a:ext cx="10515601" cy="3071773"/>
            <a:chOff x="838201" y="1902996"/>
            <a:chExt cx="10515601" cy="3071773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Invention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Arguments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Disposition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Structure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Élocution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Style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Action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Présence</a:t>
              </a:r>
              <a:r>
                <a:rPr lang="en-GB" sz="3200" b="1" dirty="0">
                  <a:solidFill>
                    <a:srgbClr val="C00000"/>
                  </a:solidFill>
                </a:rPr>
                <a:t> : </a:t>
              </a:r>
              <a:r>
                <a:rPr lang="en-GB" sz="3200" b="1" dirty="0" err="1">
                  <a:solidFill>
                    <a:srgbClr val="C00000"/>
                  </a:solidFill>
                </a:rPr>
                <a:t>voix</a:t>
              </a:r>
              <a:r>
                <a:rPr lang="en-GB" sz="3200" b="1" dirty="0">
                  <a:solidFill>
                    <a:srgbClr val="C00000"/>
                  </a:solidFill>
                </a:rPr>
                <a:t> et corps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Mémoire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Mémoire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B49CB2DD-2899-40AF-8716-C9DE47DE1924}"/>
              </a:ext>
            </a:extLst>
          </p:cNvPr>
          <p:cNvSpPr/>
          <p:nvPr/>
        </p:nvSpPr>
        <p:spPr>
          <a:xfrm>
            <a:off x="3154261" y="3072277"/>
            <a:ext cx="2583810" cy="826659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1783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0CDA0-CCAC-41C9-A2F4-BB57009F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56ECD-33E9-4282-8624-662914149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Clair</a:t>
            </a:r>
          </a:p>
          <a:p>
            <a:r>
              <a:rPr lang="fr-CH" dirty="0"/>
              <a:t>Style correct</a:t>
            </a:r>
          </a:p>
          <a:p>
            <a:r>
              <a:rPr lang="fr-CH" dirty="0"/>
              <a:t>Élégant</a:t>
            </a:r>
          </a:p>
          <a:p>
            <a:r>
              <a:rPr lang="fr-CH" dirty="0"/>
              <a:t>Orné =&gt; beau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E5AF9C-D815-44CB-93C7-91E346B9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9AA5E-C3B8-4983-B5FD-C6F576F9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31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16433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0CDA0-CCAC-41C9-A2F4-BB57009F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56ECD-33E9-4282-8624-66291414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Clair</a:t>
            </a:r>
          </a:p>
          <a:p>
            <a:pPr lvl="1"/>
            <a:r>
              <a:rPr lang="fr-CH" dirty="0"/>
              <a:t>Précis</a:t>
            </a:r>
          </a:p>
          <a:p>
            <a:pPr marL="457189" lvl="1" indent="0">
              <a:buNone/>
            </a:pPr>
            <a:r>
              <a:rPr lang="fr-CH" dirty="0"/>
              <a:t>« </a:t>
            </a:r>
            <a:r>
              <a:rPr lang="fr-CH" i="1" dirty="0"/>
              <a:t>un truc du style </a:t>
            </a:r>
            <a:r>
              <a:rPr lang="fr-CH" dirty="0"/>
              <a:t>» : peut-on être plus flou et vague, svp ?</a:t>
            </a:r>
          </a:p>
          <a:p>
            <a:pPr lvl="1"/>
            <a:r>
              <a:rPr lang="fr-CH" dirty="0"/>
              <a:t>Concis </a:t>
            </a:r>
          </a:p>
          <a:p>
            <a:pPr marL="457189" lvl="1" indent="0">
              <a:buNone/>
            </a:pPr>
            <a:r>
              <a:rPr lang="fr-CH" dirty="0"/>
              <a:t>« </a:t>
            </a:r>
            <a:r>
              <a:rPr lang="fr-CH" i="1" dirty="0"/>
              <a:t>The </a:t>
            </a:r>
            <a:r>
              <a:rPr lang="fr-CH" i="1" dirty="0" err="1"/>
              <a:t>only</a:t>
            </a:r>
            <a:r>
              <a:rPr lang="fr-CH" i="1" dirty="0"/>
              <a:t> </a:t>
            </a:r>
            <a:r>
              <a:rPr lang="fr-CH" i="1" dirty="0" err="1"/>
              <a:t>thing</a:t>
            </a:r>
            <a:r>
              <a:rPr lang="fr-CH" i="1" dirty="0"/>
              <a:t> </a:t>
            </a:r>
            <a:r>
              <a:rPr lang="fr-CH" i="1" dirty="0" err="1"/>
              <a:t>we</a:t>
            </a:r>
            <a:r>
              <a:rPr lang="fr-CH" i="1" dirty="0"/>
              <a:t> have to </a:t>
            </a:r>
            <a:r>
              <a:rPr lang="fr-CH" i="1" dirty="0" err="1"/>
              <a:t>fear</a:t>
            </a:r>
            <a:r>
              <a:rPr lang="fr-CH" i="1" dirty="0"/>
              <a:t> </a:t>
            </a:r>
            <a:r>
              <a:rPr lang="fr-CH" i="1" dirty="0" err="1"/>
              <a:t>is</a:t>
            </a:r>
            <a:r>
              <a:rPr lang="fr-CH" i="1" dirty="0"/>
              <a:t> </a:t>
            </a:r>
            <a:r>
              <a:rPr lang="fr-CH" i="1" dirty="0" err="1"/>
              <a:t>fear</a:t>
            </a:r>
            <a:r>
              <a:rPr lang="fr-CH" i="1" dirty="0"/>
              <a:t> </a:t>
            </a:r>
            <a:r>
              <a:rPr lang="fr-CH" i="1" dirty="0" err="1"/>
              <a:t>itself</a:t>
            </a:r>
            <a:r>
              <a:rPr lang="fr-CH" i="1" dirty="0"/>
              <a:t>.</a:t>
            </a:r>
            <a:r>
              <a:rPr lang="fr-CH" dirty="0"/>
              <a:t> » (F. D. Roosevelt)</a:t>
            </a:r>
          </a:p>
          <a:p>
            <a:pPr lvl="2"/>
            <a:r>
              <a:rPr lang="fr-CH" dirty="0">
                <a:hlinkClick r:id="rId2"/>
              </a:rPr>
              <a:t>https://www.youtube.com/watch?v=vnVwvPpdFeY</a:t>
            </a:r>
            <a:r>
              <a:rPr lang="fr-CH" dirty="0"/>
              <a:t> </a:t>
            </a:r>
          </a:p>
          <a:p>
            <a:pPr lvl="2"/>
            <a:r>
              <a:rPr lang="fr-CH" dirty="0"/>
              <a:t>(La seule chose que nous ayons à craindre est la peur elle-même)</a:t>
            </a:r>
          </a:p>
          <a:p>
            <a:r>
              <a:rPr lang="fr-CH" dirty="0"/>
              <a:t>Ne pas perdre les auditeurs !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E5AF9C-D815-44CB-93C7-91E346B9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9AA5E-C3B8-4983-B5FD-C6F576F9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32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44898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0CDA0-CCAC-41C9-A2F4-BB57009F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56ECD-33E9-4282-8624-662914149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H" dirty="0"/>
              <a:t>Son style… mais </a:t>
            </a:r>
          </a:p>
          <a:p>
            <a:pPr lvl="1"/>
            <a:r>
              <a:rPr lang="fr-CH" dirty="0">
                <a:hlinkClick r:id="rId2"/>
              </a:rPr>
              <a:t>https://youtu.be/-KLE7PTx92U?si=shY9eedBarqiS9Uy&amp;t=12</a:t>
            </a:r>
            <a:r>
              <a:rPr lang="fr-CH" dirty="0"/>
              <a:t> </a:t>
            </a:r>
            <a:br>
              <a:rPr lang="fr-CH" dirty="0"/>
            </a:br>
            <a:r>
              <a:rPr lang="fr-CH" dirty="0"/>
              <a:t>(À voix haute)</a:t>
            </a:r>
          </a:p>
          <a:p>
            <a:pPr lvl="1"/>
            <a:r>
              <a:rPr lang="fr-CH" dirty="0"/>
              <a:t>Sources : où aller voir ?</a:t>
            </a:r>
          </a:p>
          <a:p>
            <a:pPr lvl="2"/>
            <a:r>
              <a:rPr lang="fr-CH" dirty="0"/>
              <a:t>Discours d’autres orateurs, d’autre élèves</a:t>
            </a:r>
          </a:p>
          <a:p>
            <a:pPr lvl="2"/>
            <a:r>
              <a:rPr lang="fr-CH" dirty="0"/>
              <a:t>Rap</a:t>
            </a:r>
          </a:p>
          <a:p>
            <a:pPr lvl="2"/>
            <a:r>
              <a:rPr lang="fr-CH" dirty="0"/>
              <a:t>Dans les livres</a:t>
            </a:r>
          </a:p>
          <a:p>
            <a:pPr lvl="2"/>
            <a:r>
              <a:rPr lang="fr-CH" dirty="0"/>
              <a:t>Tous les jours, votre INSPIRATION !</a:t>
            </a:r>
          </a:p>
          <a:p>
            <a:pPr lvl="1"/>
            <a:endParaRPr lang="fr-CH" dirty="0"/>
          </a:p>
          <a:p>
            <a:pPr lvl="1"/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E5AF9C-D815-44CB-93C7-91E346B9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9AA5E-C3B8-4983-B5FD-C6F576F9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33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61123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0CDA0-CCAC-41C9-A2F4-BB57009F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56ECD-33E9-4282-8624-662914149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Correct</a:t>
            </a:r>
          </a:p>
          <a:p>
            <a:pPr lvl="1"/>
            <a:r>
              <a:rPr lang="fr-CH" dirty="0"/>
              <a:t>Orthographe, grammaire, etc. : éviter </a:t>
            </a:r>
            <a:r>
              <a:rPr lang="fr-CH"/>
              <a:t>les erreurs </a:t>
            </a:r>
            <a:r>
              <a:rPr lang="fr-CH" dirty="0"/>
              <a:t>?</a:t>
            </a:r>
          </a:p>
          <a:p>
            <a:pPr lvl="1"/>
            <a:r>
              <a:rPr lang="fr-CH" dirty="0"/>
              <a:t>Exemples : (erreurs et expressions inutiles)</a:t>
            </a:r>
          </a:p>
          <a:p>
            <a:pPr lvl="1"/>
            <a:r>
              <a:rPr lang="fr-CH" dirty="0"/>
              <a:t>Pourquoi faire ?</a:t>
            </a:r>
          </a:p>
          <a:p>
            <a:pPr lvl="2"/>
            <a:r>
              <a:rPr lang="fr-CH" dirty="0"/>
              <a:t>Comme pour les vêtements : le style permet de s’affirmer</a:t>
            </a:r>
          </a:p>
          <a:p>
            <a:pPr lvl="2"/>
            <a:r>
              <a:rPr lang="fr-CH" dirty="0"/>
              <a:t>Question de crédibilité !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E5AF9C-D815-44CB-93C7-91E346B9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9AA5E-C3B8-4983-B5FD-C6F576F9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34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88420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0CDA0-CCAC-41C9-A2F4-BB57009F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56ECD-33E9-4282-8624-66291414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723"/>
            <a:ext cx="10515600" cy="4351338"/>
          </a:xfrm>
        </p:spPr>
        <p:txBody>
          <a:bodyPr>
            <a:normAutofit/>
          </a:bodyPr>
          <a:lstStyle/>
          <a:p>
            <a:r>
              <a:rPr lang="fr-CH" dirty="0"/>
              <a:t>Élégant : éviter les lourdeurs</a:t>
            </a:r>
          </a:p>
          <a:p>
            <a:pPr lvl="2"/>
            <a:r>
              <a:rPr lang="fr-CH" dirty="0">
                <a:hlinkClick r:id="rId2"/>
              </a:rPr>
              <a:t>https://www.youtube.com/watch?v=WIU8Zw6Li1M</a:t>
            </a:r>
            <a:r>
              <a:rPr lang="fr-CH" dirty="0"/>
              <a:t> (Sarkozy)</a:t>
            </a:r>
          </a:p>
          <a:p>
            <a:pPr lvl="2"/>
            <a:r>
              <a:rPr lang="fr-CH" dirty="0">
                <a:hlinkClick r:id="rId3"/>
              </a:rPr>
              <a:t>https://www.youtube.com/watch?v=zvShgw JY2cE</a:t>
            </a:r>
            <a:r>
              <a:rPr lang="fr-CH" dirty="0"/>
              <a:t> (Henri Krasucki)</a:t>
            </a:r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E5AF9C-D815-44CB-93C7-91E346B9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9AA5E-C3B8-4983-B5FD-C6F576F9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35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3677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0CDA0-CCAC-41C9-A2F4-BB57009F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56ECD-33E9-4282-8624-662914149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Orné =&gt; beau</a:t>
            </a:r>
          </a:p>
          <a:p>
            <a:r>
              <a:rPr lang="fr-CH" dirty="0"/>
              <a:t>Se faire plaisir : trouver des formules qui claquent, qui restent en mémoire.</a:t>
            </a:r>
          </a:p>
          <a:p>
            <a:r>
              <a:rPr lang="fr-CH" dirty="0"/>
              <a:t>Essayer d’élever son style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E5AF9C-D815-44CB-93C7-91E346B9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9AA5E-C3B8-4983-B5FD-C6F576F9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36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77904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3154B-EC93-4418-8602-25EB0E2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949A10-B759-494D-AA19-042AD2D2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Éviter les catastrophes</a:t>
            </a:r>
          </a:p>
          <a:p>
            <a:pPr lvl="1"/>
            <a:r>
              <a:rPr lang="fr-CH" dirty="0"/>
              <a:t>Ribéry</a:t>
            </a:r>
          </a:p>
          <a:p>
            <a:pPr lvl="2"/>
            <a:r>
              <a:rPr lang="fr-CH" dirty="0">
                <a:hlinkClick r:id="rId2"/>
              </a:rPr>
              <a:t>https://youtu.be/q4gzVy65js0?t=52</a:t>
            </a:r>
            <a:r>
              <a:rPr lang="fr-CH" dirty="0"/>
              <a:t> </a:t>
            </a:r>
          </a:p>
          <a:p>
            <a:pPr lvl="1"/>
            <a:r>
              <a:rPr lang="fr-CH" dirty="0"/>
              <a:t>Contre-exemple de Ribéry : </a:t>
            </a:r>
            <a:r>
              <a:rPr lang="fr-CH" dirty="0" err="1"/>
              <a:t>MBappé</a:t>
            </a:r>
            <a:endParaRPr lang="fr-CH" dirty="0"/>
          </a:p>
          <a:p>
            <a:pPr lvl="2"/>
            <a:r>
              <a:rPr lang="fr-CH" dirty="0">
                <a:hlinkClick r:id="rId3"/>
              </a:rPr>
              <a:t>https://www.youtube.com/live/RUJKcVasUYE?feature=share&amp;t=561</a:t>
            </a:r>
            <a:r>
              <a:rPr lang="fr-CH" dirty="0"/>
              <a:t> </a:t>
            </a:r>
          </a:p>
          <a:p>
            <a:pPr lvl="1"/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74AD8C-53A1-401E-BBCB-41905162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9475AD-E6E6-4F00-B65D-9A01B548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37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83651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3154B-EC93-4418-8602-25EB0E2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949A10-B759-494D-AA19-042AD2D2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Figures de style </a:t>
            </a:r>
          </a:p>
          <a:p>
            <a:pPr lvl="1"/>
            <a:r>
              <a:rPr lang="fr-CH" dirty="0"/>
              <a:t>Des noms étranges mais en réalité des outils donnés pour le discours.</a:t>
            </a:r>
          </a:p>
          <a:p>
            <a:pPr lvl="1"/>
            <a:r>
              <a:rPr lang="fr-CH" dirty="0"/>
              <a:t>Plus la formule est réussie, plus le public s’en souviendra.</a:t>
            </a:r>
          </a:p>
          <a:p>
            <a:pPr marL="457189" lvl="1" indent="0">
              <a:buNone/>
            </a:pPr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74AD8C-53A1-401E-BBCB-41905162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9475AD-E6E6-4F00-B65D-9A01B548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38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06439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3154B-EC93-4418-8602-25EB0E2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949A10-B759-494D-AA19-042AD2D2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Figures</a:t>
            </a:r>
          </a:p>
          <a:p>
            <a:pPr lvl="1"/>
            <a:r>
              <a:rPr lang="fr-CH" dirty="0"/>
              <a:t>Métaphore : une image</a:t>
            </a:r>
          </a:p>
          <a:p>
            <a:pPr marL="457189" lvl="1" indent="0">
              <a:buNone/>
            </a:pPr>
            <a:r>
              <a:rPr lang="fr-CH" dirty="0"/>
              <a:t>	« </a:t>
            </a:r>
            <a:r>
              <a:rPr lang="fr-CH" i="1" dirty="0"/>
              <a:t>Genève est un village.</a:t>
            </a:r>
            <a:r>
              <a:rPr lang="fr-CH" dirty="0"/>
              <a:t> »</a:t>
            </a:r>
          </a:p>
          <a:p>
            <a:pPr lvl="1"/>
            <a:r>
              <a:rPr lang="fr-CH" dirty="0"/>
              <a:t>Anaphore</a:t>
            </a:r>
          </a:p>
          <a:p>
            <a:pPr marL="457189" lvl="1" indent="0">
              <a:buNone/>
            </a:pPr>
            <a:r>
              <a:rPr lang="fr-CH" dirty="0"/>
              <a:t>	A---, A---, A----</a:t>
            </a:r>
          </a:p>
          <a:p>
            <a:pPr lvl="1"/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74AD8C-53A1-401E-BBCB-41905162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9475AD-E6E6-4F00-B65D-9A01B548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39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15213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3154B-EC93-4418-8602-25EB0E2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949A10-B759-494D-AA19-042AD2D2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H" dirty="0"/>
              <a:t>Figures</a:t>
            </a:r>
          </a:p>
          <a:p>
            <a:pPr lvl="1"/>
            <a:r>
              <a:rPr lang="fr-CH" dirty="0"/>
              <a:t>Chiasme : A --- B , B --- A</a:t>
            </a:r>
          </a:p>
          <a:p>
            <a:pPr lvl="1"/>
            <a:r>
              <a:rPr lang="fr-CH" dirty="0"/>
              <a:t>Kennedy</a:t>
            </a:r>
          </a:p>
          <a:p>
            <a:pPr marL="457189" lvl="1" indent="0">
              <a:buNone/>
            </a:pPr>
            <a:r>
              <a:rPr lang="fr-CH" dirty="0"/>
              <a:t>« </a:t>
            </a:r>
            <a:r>
              <a:rPr lang="fr-CH" i="1" dirty="0"/>
              <a:t>Au lieu de vous demander ce que l’Amérique peut faire pour vous, demandez-vous ce que vous pouvez faire pour l’Amérique. » </a:t>
            </a:r>
            <a:r>
              <a:rPr lang="fr-CH" dirty="0"/>
              <a:t> </a:t>
            </a:r>
          </a:p>
          <a:p>
            <a:pPr marL="457189" lvl="1" indent="0">
              <a:buNone/>
            </a:pPr>
            <a:endParaRPr lang="fr-CH" dirty="0"/>
          </a:p>
          <a:p>
            <a:pPr marL="457189" lvl="1" indent="0">
              <a:buNone/>
            </a:pPr>
            <a:r>
              <a:rPr lang="fr-CH" dirty="0"/>
              <a:t>« </a:t>
            </a:r>
            <a:r>
              <a:rPr lang="fr-CH" i="1" dirty="0"/>
              <a:t>Au lieu de vous demander ce que </a:t>
            </a:r>
            <a:r>
              <a:rPr lang="fr-CH" b="1" i="1" dirty="0"/>
              <a:t>l’Amérique</a:t>
            </a:r>
            <a:r>
              <a:rPr lang="fr-CH" i="1" dirty="0"/>
              <a:t> 		</a:t>
            </a:r>
            <a:r>
              <a:rPr lang="fr-CH" dirty="0"/>
              <a:t>A</a:t>
            </a:r>
          </a:p>
          <a:p>
            <a:pPr marL="457189" lvl="1" indent="0">
              <a:buNone/>
            </a:pPr>
            <a:r>
              <a:rPr lang="fr-CH" i="1" dirty="0"/>
              <a:t>peut faire pour </a:t>
            </a:r>
            <a:r>
              <a:rPr lang="fr-CH" b="1" i="1" dirty="0"/>
              <a:t>vous</a:t>
            </a:r>
            <a:r>
              <a:rPr lang="fr-CH" i="1" dirty="0"/>
              <a:t>, 						</a:t>
            </a:r>
            <a:r>
              <a:rPr lang="fr-CH" dirty="0"/>
              <a:t>B</a:t>
            </a:r>
          </a:p>
          <a:p>
            <a:pPr marL="457189" lvl="1" indent="0">
              <a:buNone/>
            </a:pPr>
            <a:r>
              <a:rPr lang="fr-CH" i="1" dirty="0"/>
              <a:t>demandez-vous ce que </a:t>
            </a:r>
            <a:r>
              <a:rPr lang="fr-CH" b="1" i="1" dirty="0"/>
              <a:t>vous </a:t>
            </a:r>
            <a:r>
              <a:rPr lang="fr-CH" i="1" dirty="0"/>
              <a:t>pouvez faire pour 		</a:t>
            </a:r>
            <a:r>
              <a:rPr lang="fr-CH" dirty="0"/>
              <a:t>B</a:t>
            </a:r>
            <a:endParaRPr lang="fr-CH" b="1" dirty="0"/>
          </a:p>
          <a:p>
            <a:pPr marL="457189" lvl="1" indent="0">
              <a:buNone/>
            </a:pPr>
            <a:r>
              <a:rPr lang="fr-CH" b="1" i="1" dirty="0"/>
              <a:t>l’Amérique.</a:t>
            </a:r>
            <a:r>
              <a:rPr lang="fr-CH" i="1" dirty="0"/>
              <a:t> »</a:t>
            </a:r>
            <a:r>
              <a:rPr lang="fr-CH" dirty="0"/>
              <a:t> 								A</a:t>
            </a:r>
          </a:p>
          <a:p>
            <a:pPr marL="457189" lvl="1" indent="0">
              <a:buNone/>
            </a:pPr>
            <a:endParaRPr lang="fr-CH" dirty="0"/>
          </a:p>
          <a:p>
            <a:pPr lvl="1"/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74AD8C-53A1-401E-BBCB-41905162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9475AD-E6E6-4F00-B65D-9A01B548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40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35647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3154B-EC93-4418-8602-25EB0E2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949A10-B759-494D-AA19-042AD2D2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H" dirty="0"/>
              <a:t>Figures</a:t>
            </a:r>
          </a:p>
          <a:p>
            <a:pPr lvl="1"/>
            <a:r>
              <a:rPr lang="fr-CH" dirty="0"/>
              <a:t>Prosopopée : un dialogue avec un absent</a:t>
            </a:r>
          </a:p>
          <a:p>
            <a:pPr marL="457189" lvl="1" indent="0">
              <a:buNone/>
            </a:pPr>
            <a:endParaRPr lang="fr-CH" dirty="0"/>
          </a:p>
          <a:p>
            <a:pPr marL="457189" lvl="1" indent="0">
              <a:buNone/>
            </a:pPr>
            <a:r>
              <a:rPr lang="fr-CH" dirty="0"/>
              <a:t>« </a:t>
            </a:r>
            <a:r>
              <a:rPr lang="fr-CH" i="1" dirty="0"/>
              <a:t>Churchill, vous auriez honte en voyant que les Britanniques ont voté pour le Brexit. » </a:t>
            </a:r>
            <a:r>
              <a:rPr lang="fr-CH" dirty="0"/>
              <a:t> </a:t>
            </a:r>
          </a:p>
          <a:p>
            <a:pPr marL="457189" lvl="1" indent="0">
              <a:buNone/>
            </a:pPr>
            <a:endParaRPr lang="fr-CH" dirty="0"/>
          </a:p>
          <a:p>
            <a:pPr marL="457189" lvl="1" indent="0">
              <a:buNone/>
            </a:pPr>
            <a:r>
              <a:rPr lang="fr-CH" dirty="0"/>
              <a:t>« </a:t>
            </a:r>
            <a:r>
              <a:rPr lang="fr-CH" i="1" dirty="0"/>
              <a:t>Johnny, tu serais triste de voir ta famille se déchirer pour ton héritage. </a:t>
            </a:r>
            <a:r>
              <a:rPr lang="fr-CH" dirty="0"/>
              <a:t>»</a:t>
            </a:r>
          </a:p>
          <a:p>
            <a:pPr lvl="1"/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74AD8C-53A1-401E-BBCB-41905162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9475AD-E6E6-4F00-B65D-9A01B548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41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75671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3154B-EC93-4418-8602-25EB0E2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949A10-B759-494D-AA19-042AD2D2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dirty="0"/>
              <a:t>Figures</a:t>
            </a:r>
          </a:p>
          <a:p>
            <a:pPr lvl="1"/>
            <a:r>
              <a:rPr lang="fr-CH" dirty="0"/>
              <a:t>Sous-entendu : « </a:t>
            </a:r>
            <a:r>
              <a:rPr lang="fr-CH" i="1" dirty="0"/>
              <a:t>un sentiment contrarié</a:t>
            </a:r>
            <a:r>
              <a:rPr lang="fr-CH" dirty="0"/>
              <a:t> » ; « exercice solitaire » </a:t>
            </a:r>
          </a:p>
          <a:p>
            <a:pPr lvl="1"/>
            <a:r>
              <a:rPr lang="fr-CH" dirty="0">
                <a:hlinkClick r:id="rId2"/>
              </a:rPr>
              <a:t>https://www.youtube.com/watch?v=tna3DsCYaTE</a:t>
            </a:r>
            <a:r>
              <a:rPr lang="fr-CH" dirty="0"/>
              <a:t> (à 2’25)</a:t>
            </a:r>
          </a:p>
          <a:p>
            <a:pPr lvl="1"/>
            <a:r>
              <a:rPr lang="fr-CH" dirty="0"/>
              <a:t>Invective : </a:t>
            </a:r>
            <a:r>
              <a:rPr lang="fr-CH" dirty="0">
                <a:hlinkClick r:id="rId3"/>
              </a:rPr>
              <a:t>https://www.youtube.com/watch?v=VLz6X1kDeUQ</a:t>
            </a:r>
            <a:endParaRPr lang="fr-CH" dirty="0"/>
          </a:p>
          <a:p>
            <a:pPr lvl="1"/>
            <a:r>
              <a:rPr lang="fr-CH" dirty="0"/>
              <a:t>Anaphore : A…, A…, A…, (« </a:t>
            </a:r>
            <a:r>
              <a:rPr lang="fr-CH" i="1" dirty="0"/>
              <a:t>Est-ce du courage… ?</a:t>
            </a:r>
            <a:r>
              <a:rPr lang="fr-CH" dirty="0"/>
              <a:t> ») </a:t>
            </a:r>
            <a:r>
              <a:rPr lang="fr-CH" dirty="0">
                <a:hlinkClick r:id="rId4"/>
              </a:rPr>
              <a:t>https://www.youtube.com/watch?v=Py9K5X0byFg</a:t>
            </a:r>
            <a:r>
              <a:rPr lang="fr-CH" dirty="0"/>
              <a:t> </a:t>
            </a:r>
          </a:p>
          <a:p>
            <a:pPr lvl="1"/>
            <a:endParaRPr lang="fr-CH" dirty="0"/>
          </a:p>
          <a:p>
            <a:pPr lvl="1"/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74AD8C-53A1-401E-BBCB-41905162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9475AD-E6E6-4F00-B65D-9A01B548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42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35381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7475FF-A12C-4024-AE51-B886DDF0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Style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2A8247-0D50-469A-ABB7-656D3DB04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/>
              <a:t>Reformuler des phrases </a:t>
            </a:r>
            <a:r>
              <a:rPr lang="fr-CH" b="1" dirty="0"/>
              <a:t>lourdes</a:t>
            </a:r>
            <a:r>
              <a:rPr lang="fr-CH" dirty="0"/>
              <a:t> et </a:t>
            </a:r>
            <a:r>
              <a:rPr lang="fr-CH" b="1" dirty="0"/>
              <a:t>banales</a:t>
            </a:r>
            <a:r>
              <a:rPr lang="fr-CH" dirty="0"/>
              <a:t> en des phrases </a:t>
            </a:r>
            <a:r>
              <a:rPr lang="fr-CH" b="1" dirty="0"/>
              <a:t>élégantes</a:t>
            </a:r>
            <a:r>
              <a:rPr lang="fr-CH" dirty="0"/>
              <a:t> et </a:t>
            </a:r>
            <a:r>
              <a:rPr lang="fr-CH" b="1" dirty="0"/>
              <a:t>riches</a:t>
            </a:r>
          </a:p>
          <a:p>
            <a:pPr marL="0" indent="0">
              <a:buNone/>
            </a:pPr>
            <a:endParaRPr lang="fr-CH" b="1" dirty="0"/>
          </a:p>
          <a:p>
            <a:pPr marL="0" indent="0">
              <a:buNone/>
            </a:pPr>
            <a:r>
              <a:rPr lang="fr-CH" dirty="0"/>
              <a:t>Lourdeur et banalité -&gt; élégance et richesse</a:t>
            </a:r>
          </a:p>
          <a:p>
            <a:pPr marL="457189" lvl="1" indent="0">
              <a:buNone/>
            </a:pPr>
            <a:endParaRPr lang="fr-CH" dirty="0"/>
          </a:p>
          <a:p>
            <a:pPr marL="457189" lvl="1" indent="0">
              <a:buNone/>
            </a:pPr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BF428B-D878-45EE-B745-89CE3956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412EC4-D0BA-41C5-9BBE-DBA3F0AD3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43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175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Feuille de route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44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687E68BC-39EE-4921-88BD-D592874470A9}"/>
              </a:ext>
            </a:extLst>
          </p:cNvPr>
          <p:cNvGrpSpPr/>
          <p:nvPr/>
        </p:nvGrpSpPr>
        <p:grpSpPr>
          <a:xfrm>
            <a:off x="838201" y="1902996"/>
            <a:ext cx="10515601" cy="3071773"/>
            <a:chOff x="838201" y="1902996"/>
            <a:chExt cx="10515601" cy="3071773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Invention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Arguments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Disposition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Structure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Élocution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Style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Action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Présence</a:t>
              </a:r>
              <a:r>
                <a:rPr lang="en-GB" sz="3200" b="1" dirty="0">
                  <a:solidFill>
                    <a:srgbClr val="C00000"/>
                  </a:solidFill>
                </a:rPr>
                <a:t> : </a:t>
              </a:r>
              <a:r>
                <a:rPr lang="en-GB" sz="3200" b="1" dirty="0" err="1">
                  <a:solidFill>
                    <a:srgbClr val="C00000"/>
                  </a:solidFill>
                </a:rPr>
                <a:t>voix</a:t>
              </a:r>
              <a:r>
                <a:rPr lang="en-GB" sz="3200" b="1" dirty="0">
                  <a:solidFill>
                    <a:srgbClr val="C00000"/>
                  </a:solidFill>
                </a:rPr>
                <a:t> et corps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Mémoire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Mémoire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B49CB2DD-2899-40AF-8716-C9DE47DE1924}"/>
              </a:ext>
            </a:extLst>
          </p:cNvPr>
          <p:cNvSpPr/>
          <p:nvPr/>
        </p:nvSpPr>
        <p:spPr>
          <a:xfrm>
            <a:off x="2231472" y="3639906"/>
            <a:ext cx="4362275" cy="826659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0682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b="1" dirty="0"/>
              <a:t>Pourquoi ?</a:t>
            </a:r>
          </a:p>
          <a:p>
            <a:r>
              <a:rPr lang="fr-CH" b="1" dirty="0"/>
              <a:t>Quoi ?</a:t>
            </a:r>
          </a:p>
          <a:p>
            <a:pPr lvl="1"/>
            <a:r>
              <a:rPr lang="fr-CH" dirty="0"/>
              <a:t>La voix</a:t>
            </a:r>
          </a:p>
          <a:p>
            <a:pPr lvl="1"/>
            <a:r>
              <a:rPr lang="fr-CH" dirty="0"/>
              <a:t>Le regard</a:t>
            </a:r>
          </a:p>
          <a:p>
            <a:pPr lvl="1"/>
            <a:r>
              <a:rPr lang="fr-CH" dirty="0"/>
              <a:t>Le corps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45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72140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 : la voix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b="1" dirty="0"/>
              <a:t>Voix</a:t>
            </a:r>
          </a:p>
          <a:p>
            <a:pPr lvl="1"/>
            <a:r>
              <a:rPr lang="fr-CH" dirty="0"/>
              <a:t>Lente et forte</a:t>
            </a:r>
          </a:p>
          <a:p>
            <a:pPr lvl="1"/>
            <a:r>
              <a:rPr lang="fr-CH" dirty="0"/>
              <a:t>Variations</a:t>
            </a:r>
          </a:p>
          <a:p>
            <a:pPr lvl="1"/>
            <a:r>
              <a:rPr lang="fr-CH" dirty="0"/>
              <a:t>Pas de chute en fin de phrase</a:t>
            </a:r>
          </a:p>
          <a:p>
            <a:pPr lvl="1"/>
            <a:r>
              <a:rPr lang="fr-CH" dirty="0"/>
              <a:t>Éviter les “</a:t>
            </a:r>
            <a:r>
              <a:rPr lang="fr-CH" i="1" dirty="0" err="1"/>
              <a:t>eeeeeeeeeeeeeeeeeeeeuh</a:t>
            </a:r>
            <a:r>
              <a:rPr lang="fr-CH" dirty="0"/>
              <a:t>”</a:t>
            </a:r>
          </a:p>
          <a:p>
            <a:pPr lvl="1"/>
            <a:r>
              <a:rPr lang="fr-CH" dirty="0"/>
              <a:t>Rythme : respirations, pauses et variations</a:t>
            </a:r>
          </a:p>
          <a:p>
            <a:pPr lvl="1"/>
            <a:r>
              <a:rPr lang="fr-CH" dirty="0"/>
              <a:t>Exercices d’échauffement (corps et voix : cf. chant)</a:t>
            </a:r>
          </a:p>
          <a:p>
            <a:pPr lvl="1"/>
            <a:endParaRPr lang="fr-CH" dirty="0">
              <a:highlight>
                <a:srgbClr val="FFFF00"/>
              </a:highlight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46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02783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 : la voix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b="1" dirty="0"/>
              <a:t>Voix</a:t>
            </a:r>
          </a:p>
          <a:p>
            <a:pPr lvl="1"/>
            <a:r>
              <a:rPr lang="fr-CH" dirty="0"/>
              <a:t>Souffle et respiration</a:t>
            </a:r>
          </a:p>
          <a:p>
            <a:pPr lvl="1"/>
            <a:r>
              <a:rPr lang="fr-CH" dirty="0"/>
              <a:t>Petits défauts : « s » sifflants c/o Obama</a:t>
            </a:r>
          </a:p>
          <a:p>
            <a:pPr lvl="2"/>
            <a:r>
              <a:rPr lang="fr-CH" dirty="0">
                <a:hlinkClick r:id="rId2"/>
              </a:rPr>
              <a:t>https://www.youtube.com/watch?v=Cf0Bsvo-MRE</a:t>
            </a:r>
            <a:r>
              <a:rPr lang="fr-CH" dirty="0"/>
              <a:t> </a:t>
            </a:r>
          </a:p>
          <a:p>
            <a:pPr lvl="1"/>
            <a:r>
              <a:rPr lang="fr-CH" dirty="0"/>
              <a:t>Exercices pour l’articulation (selon les classiques)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47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87790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 : la voix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CH" dirty="0"/>
              <a:t>Exemples</a:t>
            </a:r>
          </a:p>
          <a:p>
            <a:pPr lvl="1"/>
            <a:r>
              <a:rPr lang="fr-CH" dirty="0"/>
              <a:t>Macron : </a:t>
            </a:r>
            <a:br>
              <a:rPr lang="fr-CH" dirty="0"/>
            </a:br>
            <a:r>
              <a:rPr lang="fr-CH" dirty="0">
                <a:hlinkClick r:id="rId2"/>
              </a:rPr>
              <a:t>https://www.youtube.com/watch?v=a1r8Ad6nFSA&amp;ab_channel=LePoint</a:t>
            </a:r>
            <a:r>
              <a:rPr lang="fr-CH" dirty="0"/>
              <a:t> </a:t>
            </a:r>
            <a:br>
              <a:rPr lang="fr-CH" dirty="0"/>
            </a:br>
            <a:r>
              <a:rPr lang="fr-CH" i="1" dirty="0"/>
              <a:t>(il prendra des cours avec un chanteur professionnel pour corriger la chose).</a:t>
            </a:r>
          </a:p>
          <a:p>
            <a:pPr lvl="1"/>
            <a:r>
              <a:rPr lang="fr-CH" dirty="0"/>
              <a:t>Grave et profonde : </a:t>
            </a:r>
            <a:r>
              <a:rPr lang="fr-CH" i="1" dirty="0">
                <a:hlinkClick r:id="rId3"/>
              </a:rPr>
              <a:t>https://www.youtube.com/watch?v=Nj48q6bVQdE&amp;t=3433s</a:t>
            </a:r>
            <a:r>
              <a:rPr lang="fr-CH" i="1" dirty="0"/>
              <a:t> </a:t>
            </a:r>
          </a:p>
          <a:p>
            <a:pPr lvl="1"/>
            <a:r>
              <a:rPr lang="fr-CH" dirty="0"/>
              <a:t>Marquer le territoire </a:t>
            </a:r>
            <a:br>
              <a:rPr lang="fr-CH" dirty="0"/>
            </a:br>
            <a:r>
              <a:rPr lang="fr-CH" dirty="0">
                <a:hlinkClick r:id="rId4"/>
              </a:rPr>
              <a:t>https://www.youtube.com/watch?v=U-xJ6EiEdlg</a:t>
            </a:r>
            <a:r>
              <a:rPr lang="fr-CH" dirty="0"/>
              <a:t> </a:t>
            </a:r>
            <a:br>
              <a:rPr lang="fr-CH" dirty="0"/>
            </a:br>
            <a:r>
              <a:rPr lang="fr-CH" i="1" dirty="0"/>
              <a:t>(le journaliste ne peut même pas intervenir)</a:t>
            </a:r>
          </a:p>
          <a:p>
            <a:pPr lvl="1"/>
            <a:r>
              <a:rPr lang="fr-CH" dirty="0"/>
              <a:t>Denis </a:t>
            </a:r>
            <a:r>
              <a:rPr lang="fr-CH" dirty="0" err="1"/>
              <a:t>Agboton</a:t>
            </a:r>
            <a:br>
              <a:rPr lang="fr-CH" i="1" dirty="0"/>
            </a:br>
            <a:r>
              <a:rPr lang="fr-CH" dirty="0">
                <a:hlinkClick r:id="rId5"/>
              </a:rPr>
              <a:t>https://www.youtube.com/watch?v=DyNrjKNzKdY&amp;t=4s</a:t>
            </a:r>
            <a:endParaRPr lang="fr-CH" i="1" dirty="0"/>
          </a:p>
          <a:p>
            <a:pPr lvl="1"/>
            <a:endParaRPr lang="fr-CH" i="1" dirty="0"/>
          </a:p>
          <a:p>
            <a:pPr lvl="1"/>
            <a:endParaRPr lang="fr-CH" dirty="0"/>
          </a:p>
          <a:p>
            <a:pPr lvl="1"/>
            <a:endParaRPr lang="fr-CH" dirty="0"/>
          </a:p>
          <a:p>
            <a:endParaRPr lang="fr-CH" b="1" dirty="0"/>
          </a:p>
          <a:p>
            <a:pPr lvl="1"/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48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8712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 : la voix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Exercices</a:t>
            </a:r>
          </a:p>
          <a:p>
            <a:pPr lvl="1"/>
            <a:endParaRPr lang="fr-CH" dirty="0"/>
          </a:p>
          <a:p>
            <a:pPr lvl="1"/>
            <a:endParaRPr lang="fr-CH" dirty="0"/>
          </a:p>
          <a:p>
            <a:endParaRPr lang="fr-CH" b="1" dirty="0"/>
          </a:p>
          <a:p>
            <a:pPr lvl="1"/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49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64520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 : le regard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b="1" dirty="0"/>
              <a:t>Contact visuel</a:t>
            </a:r>
          </a:p>
          <a:p>
            <a:r>
              <a:rPr lang="fr-CH" b="1" dirty="0"/>
              <a:t>Éviter l’expression vide</a:t>
            </a:r>
          </a:p>
          <a:p>
            <a:r>
              <a:rPr lang="fr-CH" dirty="0"/>
              <a:t>Exemples</a:t>
            </a:r>
          </a:p>
          <a:p>
            <a:pPr lvl="1"/>
            <a:r>
              <a:rPr lang="fr-CH" dirty="0">
                <a:hlinkClick r:id="rId2"/>
              </a:rPr>
              <a:t>https://www.dailymotion.com/video/x4ktvqs</a:t>
            </a:r>
            <a:endParaRPr lang="fr-CH" b="1" dirty="0"/>
          </a:p>
          <a:p>
            <a:endParaRPr lang="fr-CH" dirty="0"/>
          </a:p>
          <a:p>
            <a:endParaRPr lang="fr-CH" b="1" dirty="0"/>
          </a:p>
          <a:p>
            <a:pPr lvl="1"/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50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15725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 : le corps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CH" b="1" dirty="0"/>
              <a:t>Les jambes</a:t>
            </a:r>
          </a:p>
          <a:p>
            <a:pPr lvl="1"/>
            <a:r>
              <a:rPr lang="fr-CH" dirty="0"/>
              <a:t>Position des pieds : en-dessous des hanches</a:t>
            </a:r>
          </a:p>
          <a:p>
            <a:pPr lvl="1"/>
            <a:r>
              <a:rPr lang="fr-CH" dirty="0"/>
              <a:t>Pour le plan : déplacement en fonction des parties du discours (p.ex. digression ou confidence)</a:t>
            </a:r>
          </a:p>
          <a:p>
            <a:r>
              <a:rPr lang="fr-CH" b="1" dirty="0"/>
              <a:t>Les bras</a:t>
            </a:r>
          </a:p>
          <a:p>
            <a:r>
              <a:rPr lang="fr-CH" b="1" dirty="0"/>
              <a:t>Les mains</a:t>
            </a:r>
          </a:p>
          <a:p>
            <a:pPr lvl="1"/>
            <a:r>
              <a:rPr lang="fr-CH" dirty="0" err="1"/>
              <a:t>Homebase</a:t>
            </a:r>
            <a:endParaRPr lang="fr-CH" dirty="0"/>
          </a:p>
          <a:p>
            <a:pPr lvl="1"/>
            <a:r>
              <a:rPr lang="fr-CH" dirty="0">
                <a:hlinkClick r:id="rId2"/>
              </a:rPr>
              <a:t>https://www.youtube.com/watch?v=Cf0Bsvo-MRE</a:t>
            </a:r>
            <a:r>
              <a:rPr lang="fr-CH" dirty="0"/>
              <a:t> </a:t>
            </a:r>
          </a:p>
          <a:p>
            <a:r>
              <a:rPr lang="fr-CH" b="1" dirty="0"/>
              <a:t>La tête</a:t>
            </a:r>
          </a:p>
          <a:p>
            <a:pPr lvl="1"/>
            <a:r>
              <a:rPr lang="fr-CH" dirty="0">
                <a:hlinkClick r:id="rId3"/>
              </a:rPr>
              <a:t>https://www.youtube.com/watch?v=hyGyrKyXXKY</a:t>
            </a:r>
            <a:r>
              <a:rPr lang="fr-CH" dirty="0"/>
              <a:t> (</a:t>
            </a:r>
            <a:r>
              <a:rPr lang="fr-CH" dirty="0" err="1"/>
              <a:t>Naïma</a:t>
            </a:r>
            <a:r>
              <a:rPr lang="fr-CH" dirty="0"/>
              <a:t> </a:t>
            </a:r>
            <a:r>
              <a:rPr lang="fr-CH" dirty="0" err="1"/>
              <a:t>Haoulia</a:t>
            </a:r>
            <a:r>
              <a:rPr lang="fr-CH" dirty="0"/>
              <a:t>)</a:t>
            </a:r>
          </a:p>
          <a:p>
            <a:r>
              <a:rPr lang="fr-CH" b="1" dirty="0"/>
              <a:t>Contre exemple : </a:t>
            </a:r>
            <a:r>
              <a:rPr lang="fr-CH" dirty="0"/>
              <a:t>Edouard Philippe</a:t>
            </a:r>
            <a:endParaRPr lang="fr-CH" b="1" dirty="0"/>
          </a:p>
          <a:p>
            <a:pPr lvl="1"/>
            <a:r>
              <a:rPr lang="fr-CH" dirty="0">
                <a:hlinkClick r:id="rId4"/>
              </a:rPr>
              <a:t>https://www.youtube.com/watch?v=exulrMq7KVo</a:t>
            </a:r>
            <a:r>
              <a:rPr lang="fr-CH" dirty="0"/>
              <a:t> (figé)</a:t>
            </a:r>
          </a:p>
          <a:p>
            <a:pPr lvl="1"/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51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65370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 : le corps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b="1" dirty="0"/>
              <a:t>Les jambes</a:t>
            </a:r>
          </a:p>
          <a:p>
            <a:pPr lvl="1"/>
            <a:r>
              <a:rPr lang="fr-CH" dirty="0"/>
              <a:t>« Tourner » sur les pieds</a:t>
            </a:r>
          </a:p>
          <a:p>
            <a:pPr lvl="1"/>
            <a:r>
              <a:rPr lang="fr-CH" dirty="0"/>
              <a:t>L’assise (genoux fléchis)</a:t>
            </a:r>
          </a:p>
          <a:p>
            <a:pPr lvl="1"/>
            <a:r>
              <a:rPr lang="fr-CH" dirty="0"/>
              <a:t>Pas d’asymétrie</a:t>
            </a:r>
          </a:p>
          <a:p>
            <a:r>
              <a:rPr lang="fr-CH" b="1" dirty="0"/>
              <a:t>Les bras et les mains</a:t>
            </a:r>
          </a:p>
          <a:p>
            <a:r>
              <a:rPr lang="fr-CH" b="1" dirty="0"/>
              <a:t>La tête</a:t>
            </a:r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52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65370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 : préparer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H" b="1" dirty="0"/>
              <a:t>Testez votre discours : répétitions</a:t>
            </a:r>
          </a:p>
          <a:p>
            <a:pPr lvl="1"/>
            <a:r>
              <a:rPr lang="fr-CH" dirty="0"/>
              <a:t>Exercices d’échauffement</a:t>
            </a:r>
          </a:p>
          <a:p>
            <a:pPr lvl="1"/>
            <a:r>
              <a:rPr lang="fr-CH" dirty="0"/>
              <a:t>Devant des amis/miroir, etc.</a:t>
            </a:r>
          </a:p>
          <a:p>
            <a:pPr lvl="1"/>
            <a:r>
              <a:rPr lang="fr-CH" dirty="0"/>
              <a:t>Permet de tester l’impact de votre présentation</a:t>
            </a:r>
          </a:p>
          <a:p>
            <a:r>
              <a:rPr lang="fr-CH" b="1" dirty="0"/>
              <a:t>La répétition pour améliorer :</a:t>
            </a:r>
          </a:p>
          <a:p>
            <a:pPr lvl="1"/>
            <a:r>
              <a:rPr lang="fr-CH" dirty="0"/>
              <a:t>La formulation : quand on lit à voix haute, on verra que certaines phrases sont inintelligibles, car trop longues</a:t>
            </a:r>
          </a:p>
          <a:p>
            <a:pPr lvl="1"/>
            <a:r>
              <a:rPr lang="fr-CH" dirty="0"/>
              <a:t>La structure </a:t>
            </a:r>
          </a:p>
          <a:p>
            <a:pPr lvl="1"/>
            <a:r>
              <a:rPr lang="fr-CH" dirty="0"/>
              <a:t>La durée</a:t>
            </a:r>
          </a:p>
          <a:p>
            <a:endParaRPr lang="fr-CH" b="1" dirty="0"/>
          </a:p>
          <a:p>
            <a:pPr lvl="1"/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53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54804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C40F3-D420-40EA-822C-E8B2E5A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Présence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5AAC-C35B-4CBE-900A-87F76AF7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b="1" dirty="0"/>
              <a:t>Exercice : faire lire un texte à voix haute</a:t>
            </a:r>
          </a:p>
          <a:p>
            <a:pPr lvl="1"/>
            <a:r>
              <a:rPr lang="fr-CH" dirty="0"/>
              <a:t>Marcon : discours de victoire</a:t>
            </a:r>
          </a:p>
          <a:p>
            <a:pPr lvl="2"/>
            <a:r>
              <a:rPr lang="fr-CH" dirty="0">
                <a:hlinkClick r:id="rId2"/>
              </a:rPr>
              <a:t>https://www.youtube.com/watch?v=J81TidthZ90&amp;t=557s</a:t>
            </a:r>
            <a:r>
              <a:rPr lang="fr-CH" dirty="0"/>
              <a:t> </a:t>
            </a:r>
          </a:p>
          <a:p>
            <a:pPr lvl="1"/>
            <a:r>
              <a:rPr lang="fr-CH" dirty="0"/>
              <a:t>Badinter</a:t>
            </a:r>
          </a:p>
          <a:p>
            <a:pPr lvl="2"/>
            <a:r>
              <a:rPr lang="fr-CH" dirty="0">
                <a:hlinkClick r:id="rId3"/>
              </a:rPr>
              <a:t>https://youtu.be/waM7DsuhX28?t=57</a:t>
            </a:r>
          </a:p>
          <a:p>
            <a:pPr lvl="2"/>
            <a:r>
              <a:rPr lang="fr-CH" dirty="0">
                <a:hlinkClick r:id="rId3"/>
              </a:rPr>
              <a:t>https://www.dailymotion.com/video/xf45wk</a:t>
            </a:r>
            <a:endParaRPr lang="fr-CH" dirty="0"/>
          </a:p>
          <a:p>
            <a:pPr lvl="1"/>
            <a:r>
              <a:rPr lang="fr-CH" dirty="0"/>
              <a:t>Montrer ensuite la vidéo </a:t>
            </a:r>
          </a:p>
          <a:p>
            <a:pPr lvl="1"/>
            <a:r>
              <a:rPr lang="fr-CH" dirty="0"/>
              <a:t>Schneider-Amman</a:t>
            </a:r>
          </a:p>
          <a:p>
            <a:pPr lvl="2"/>
            <a:r>
              <a:rPr lang="fr-CH" dirty="0">
                <a:hlinkClick r:id="rId4"/>
              </a:rPr>
              <a:t>https://www.youtube.com/watch?v=Ve6RyRduDoc</a:t>
            </a:r>
            <a:r>
              <a:rPr lang="fr-CH" dirty="0"/>
              <a:t> 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C86A9-D296-4189-B79C-375EB1F6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D359D-D7DD-4248-8946-06EF0D1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54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9908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Feuille de route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55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687E68BC-39EE-4921-88BD-D592874470A9}"/>
              </a:ext>
            </a:extLst>
          </p:cNvPr>
          <p:cNvGrpSpPr/>
          <p:nvPr/>
        </p:nvGrpSpPr>
        <p:grpSpPr>
          <a:xfrm>
            <a:off x="838201" y="1902996"/>
            <a:ext cx="10515601" cy="3071773"/>
            <a:chOff x="838201" y="1902996"/>
            <a:chExt cx="10515601" cy="3071773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Invention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Arguments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Disposition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Structure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Élocution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Style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Action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Présence</a:t>
              </a:r>
              <a:r>
                <a:rPr lang="en-GB" sz="3200" b="1" dirty="0">
                  <a:solidFill>
                    <a:srgbClr val="C00000"/>
                  </a:solidFill>
                </a:rPr>
                <a:t> : </a:t>
              </a:r>
              <a:r>
                <a:rPr lang="en-GB" sz="3200" b="1" dirty="0" err="1">
                  <a:solidFill>
                    <a:srgbClr val="C00000"/>
                  </a:solidFill>
                </a:rPr>
                <a:t>voix</a:t>
              </a:r>
              <a:r>
                <a:rPr lang="en-GB" sz="3200" b="1" dirty="0">
                  <a:solidFill>
                    <a:srgbClr val="C00000"/>
                  </a:solidFill>
                </a:rPr>
                <a:t> et corps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Mémoire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Mémoire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B49CB2DD-2899-40AF-8716-C9DE47DE1924}"/>
              </a:ext>
            </a:extLst>
          </p:cNvPr>
          <p:cNvSpPr/>
          <p:nvPr/>
        </p:nvSpPr>
        <p:spPr>
          <a:xfrm>
            <a:off x="3212984" y="4254259"/>
            <a:ext cx="2332140" cy="826659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0076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984A26-C7D4-4232-B482-928F96C2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 mémoire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BD32C1-7850-40A1-9351-2BCEE5073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CH" dirty="0"/>
              <a:t>Pourquoi ?</a:t>
            </a:r>
          </a:p>
          <a:p>
            <a:pPr lvl="1"/>
            <a:r>
              <a:rPr lang="fr-CH" dirty="0"/>
              <a:t>Rien de pire qu’un orateur qui reste dans son monde et qui se livre à un exercice solitaire. (Si vous avez un imprévu : notes qui tombent, distraction dans la salle)</a:t>
            </a:r>
          </a:p>
          <a:p>
            <a:pPr lvl="1"/>
            <a:r>
              <a:rPr lang="fr-CH" dirty="0"/>
              <a:t>Vérification du discours : si structure difficile, impossible à mémoriser =&gt; impossible à écouter pour le public</a:t>
            </a:r>
          </a:p>
          <a:p>
            <a:pPr lvl="1"/>
            <a:r>
              <a:rPr lang="fr-CH" dirty="0"/>
              <a:t>Permet d’être en contact permanent avec votre auditoire</a:t>
            </a:r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942C98-E10A-474E-9866-8FAC125B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5D681C-0EEE-4775-A331-C6D729F7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56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90774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984A26-C7D4-4232-B482-928F96C2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 mémoire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BD32C1-7850-40A1-9351-2BCEE5073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H" dirty="0"/>
              <a:t>Comment ?</a:t>
            </a:r>
          </a:p>
          <a:p>
            <a:pPr lvl="1"/>
            <a:r>
              <a:rPr lang="fr-CH" dirty="0"/>
              <a:t>Associer différents sens pour une même information</a:t>
            </a:r>
          </a:p>
          <a:p>
            <a:pPr lvl="1"/>
            <a:r>
              <a:rPr lang="fr-CH" dirty="0"/>
              <a:t>Lieux sur la scène et le palais de la mémoire</a:t>
            </a:r>
          </a:p>
          <a:p>
            <a:pPr lvl="1"/>
            <a:r>
              <a:rPr lang="fr-CH" dirty="0"/>
              <a:t>Le premier et le dernier mot de chaque paragraphe (attention aux enchaînements)</a:t>
            </a:r>
          </a:p>
          <a:p>
            <a:r>
              <a:rPr lang="fr-CH" dirty="0"/>
              <a:t>Exercice </a:t>
            </a:r>
          </a:p>
          <a:p>
            <a:pPr lvl="1"/>
            <a:r>
              <a:rPr lang="fr-CH" dirty="0"/>
              <a:t>Balle avec enchaînement de mots</a:t>
            </a:r>
          </a:p>
          <a:p>
            <a:pPr lvl="1"/>
            <a:r>
              <a:rPr lang="fr-CH" dirty="0"/>
              <a:t>Histoire filée</a:t>
            </a:r>
          </a:p>
          <a:p>
            <a:pPr lvl="1"/>
            <a:r>
              <a:rPr lang="fr-CH" dirty="0"/>
              <a:t>Le Palais de la mémoire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942C98-E10A-474E-9866-8FAC125B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5D681C-0EEE-4775-A331-C6D729F7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57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54753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3170FF-1585-43C0-BD08-AF90D239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Comment faire si on a une heure 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E0B661-47A6-4F03-8468-342580A5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7FFDDF-2FA1-4D2E-A642-5A7524C4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58</a:t>
            </a:fld>
            <a:endParaRPr lang="fr-CH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80324AA-7C15-477C-B7FE-59FD3DC804B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4289" y="1443106"/>
            <a:ext cx="7163421" cy="464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146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Exercice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Commentaires en classe par les autres</a:t>
            </a:r>
          </a:p>
          <a:p>
            <a:r>
              <a:rPr lang="fr-CH" dirty="0"/>
              <a:t>Importance du respect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59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0591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Rouge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1080</TotalTime>
  <Words>2414</Words>
  <Application>Microsoft Office PowerPoint</Application>
  <PresentationFormat>Grand écran</PresentationFormat>
  <Paragraphs>528</Paragraphs>
  <Slides>59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62" baseType="lpstr">
      <vt:lpstr>Arial</vt:lpstr>
      <vt:lpstr>Calibri</vt:lpstr>
      <vt:lpstr>Thème Office</vt:lpstr>
      <vt:lpstr>LA PAROLE EST UNE VOIE</vt:lpstr>
      <vt:lpstr>Calendrier</vt:lpstr>
      <vt:lpstr>L’objectif : convaincre</vt:lpstr>
      <vt:lpstr>La rhétorique : qui ? quoi ? quand ?</vt:lpstr>
      <vt:lpstr>La rhétorique : qui ? quoi ? quand ?</vt:lpstr>
      <vt:lpstr>Qu’ont-ils en commun ?</vt:lpstr>
      <vt:lpstr>Qu’ont-ils en commun ?</vt:lpstr>
      <vt:lpstr>Qu’ont-ils en commun ?</vt:lpstr>
      <vt:lpstr>Le débat : exemples</vt:lpstr>
      <vt:lpstr>Introduction</vt:lpstr>
      <vt:lpstr>Comment préparer un discours ?</vt:lpstr>
      <vt:lpstr>Introduction : exercices</vt:lpstr>
      <vt:lpstr>L’objectif : convaincre</vt:lpstr>
      <vt:lpstr>Les types de discours</vt:lpstr>
      <vt:lpstr>Le Tribunal</vt:lpstr>
      <vt:lpstr>Le Parlement</vt:lpstr>
      <vt:lpstr>Cérémonie</vt:lpstr>
      <vt:lpstr>Champ de bataille</vt:lpstr>
      <vt:lpstr>Conférence de presse</vt:lpstr>
      <vt:lpstr>Feuille de route</vt:lpstr>
      <vt:lpstr>L’art oratoire</vt:lpstr>
      <vt:lpstr>Feuille de route</vt:lpstr>
      <vt:lpstr>Arguments</vt:lpstr>
      <vt:lpstr>Arguments</vt:lpstr>
      <vt:lpstr>Arguments</vt:lpstr>
      <vt:lpstr>Arguments</vt:lpstr>
      <vt:lpstr>Feuille de route</vt:lpstr>
      <vt:lpstr>Structure : six étapes</vt:lpstr>
      <vt:lpstr>Structure</vt:lpstr>
      <vt:lpstr>Feuille de route</vt:lpstr>
      <vt:lpstr>Style</vt:lpstr>
      <vt:lpstr>Style</vt:lpstr>
      <vt:lpstr>Style</vt:lpstr>
      <vt:lpstr>Style</vt:lpstr>
      <vt:lpstr>Style</vt:lpstr>
      <vt:lpstr>Style</vt:lpstr>
      <vt:lpstr>Style</vt:lpstr>
      <vt:lpstr>Style</vt:lpstr>
      <vt:lpstr>Style</vt:lpstr>
      <vt:lpstr>Style</vt:lpstr>
      <vt:lpstr>Style</vt:lpstr>
      <vt:lpstr>Style</vt:lpstr>
      <vt:lpstr>Style</vt:lpstr>
      <vt:lpstr>Feuille de route</vt:lpstr>
      <vt:lpstr>Présence</vt:lpstr>
      <vt:lpstr>Présence : la voix</vt:lpstr>
      <vt:lpstr>Présence : la voix</vt:lpstr>
      <vt:lpstr>Présence : la voix</vt:lpstr>
      <vt:lpstr>Présence : la voix</vt:lpstr>
      <vt:lpstr>Présence : le regard</vt:lpstr>
      <vt:lpstr>Présence : le corps</vt:lpstr>
      <vt:lpstr>Présence : le corps</vt:lpstr>
      <vt:lpstr>Présence : préparer</vt:lpstr>
      <vt:lpstr>Présence</vt:lpstr>
      <vt:lpstr>Feuille de route</vt:lpstr>
      <vt:lpstr>La mémoire</vt:lpstr>
      <vt:lpstr>La mémoire</vt:lpstr>
      <vt:lpstr>Comment faire si on a une heure ?</vt:lpstr>
      <vt:lpstr>Exercice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RHÉTORIQUE</dc:title>
  <dc:creator>Nicolas Gurtner</dc:creator>
  <cp:lastModifiedBy>Nicolas Gurtner</cp:lastModifiedBy>
  <cp:revision>292</cp:revision>
  <cp:lastPrinted>2018-08-13T19:38:30Z</cp:lastPrinted>
  <dcterms:created xsi:type="dcterms:W3CDTF">2018-08-13T17:42:36Z</dcterms:created>
  <dcterms:modified xsi:type="dcterms:W3CDTF">2024-02-15T15:09:16Z</dcterms:modified>
</cp:coreProperties>
</file>