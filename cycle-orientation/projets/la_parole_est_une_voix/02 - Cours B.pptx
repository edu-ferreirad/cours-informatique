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283" r:id="rId4"/>
    <p:sldId id="263" r:id="rId5"/>
    <p:sldId id="284" r:id="rId6"/>
    <p:sldId id="285" r:id="rId7"/>
    <p:sldId id="287" r:id="rId8"/>
    <p:sldId id="298" r:id="rId9"/>
    <p:sldId id="288" r:id="rId10"/>
    <p:sldId id="299" r:id="rId11"/>
    <p:sldId id="289" r:id="rId12"/>
    <p:sldId id="300" r:id="rId13"/>
    <p:sldId id="295" r:id="rId14"/>
    <p:sldId id="290" r:id="rId15"/>
    <p:sldId id="301" r:id="rId16"/>
    <p:sldId id="291" r:id="rId17"/>
    <p:sldId id="296" r:id="rId18"/>
    <p:sldId id="302" r:id="rId19"/>
    <p:sldId id="292" r:id="rId20"/>
    <p:sldId id="293" r:id="rId21"/>
    <p:sldId id="294" r:id="rId22"/>
    <p:sldId id="297" r:id="rId23"/>
  </p:sldIdLst>
  <p:sldSz cx="12192000" cy="6858000"/>
  <p:notesSz cx="9872663" cy="67976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0DFD0-F085-4CAE-9D41-BB07D83EBA7D}" v="2" dt="2024-02-15T15:10:02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Gurtner" userId="7cddb92f0f81b20b" providerId="LiveId" clId="{F8F89169-EB74-46C6-9463-31B2B3691CA3}"/>
    <pc:docChg chg="custSel modSld">
      <pc:chgData name="Nicolas Gurtner" userId="7cddb92f0f81b20b" providerId="LiveId" clId="{F8F89169-EB74-46C6-9463-31B2B3691CA3}" dt="2023-03-16T11:10:52.363" v="169" actId="20577"/>
      <pc:docMkLst>
        <pc:docMk/>
      </pc:docMkLst>
      <pc:sldChg chg="modSp">
        <pc:chgData name="Nicolas Gurtner" userId="7cddb92f0f81b20b" providerId="LiveId" clId="{F8F89169-EB74-46C6-9463-31B2B3691CA3}" dt="2023-03-16T11:06:56.144" v="164" actId="6549"/>
        <pc:sldMkLst>
          <pc:docMk/>
          <pc:sldMk cId="1836643041" sldId="287"/>
        </pc:sldMkLst>
        <pc:spChg chg="mod">
          <ac:chgData name="Nicolas Gurtner" userId="7cddb92f0f81b20b" providerId="LiveId" clId="{F8F89169-EB74-46C6-9463-31B2B3691CA3}" dt="2023-03-16T11:06:56.144" v="164" actId="6549"/>
          <ac:spMkLst>
            <pc:docMk/>
            <pc:sldMk cId="1836643041" sldId="287"/>
            <ac:spMk id="3" creationId="{C48407A7-8EA4-4C16-B2E3-A827279F70F5}"/>
          </ac:spMkLst>
        </pc:spChg>
      </pc:sldChg>
      <pc:sldChg chg="modSp mod modAnim">
        <pc:chgData name="Nicolas Gurtner" userId="7cddb92f0f81b20b" providerId="LiveId" clId="{F8F89169-EB74-46C6-9463-31B2B3691CA3}" dt="2023-03-16T11:10:52.363" v="169" actId="20577"/>
        <pc:sldMkLst>
          <pc:docMk/>
          <pc:sldMk cId="1800007705" sldId="291"/>
        </pc:sldMkLst>
        <pc:spChg chg="mod">
          <ac:chgData name="Nicolas Gurtner" userId="7cddb92f0f81b20b" providerId="LiveId" clId="{F8F89169-EB74-46C6-9463-31B2B3691CA3}" dt="2023-03-16T11:10:52.363" v="169" actId="20577"/>
          <ac:spMkLst>
            <pc:docMk/>
            <pc:sldMk cId="1800007705" sldId="291"/>
            <ac:spMk id="3" creationId="{C48407A7-8EA4-4C16-B2E3-A827279F70F5}"/>
          </ac:spMkLst>
        </pc:spChg>
      </pc:sldChg>
    </pc:docChg>
  </pc:docChgLst>
  <pc:docChgLst>
    <pc:chgData name="Nicolas Gurtner" userId="7cddb92f0f81b20b" providerId="LiveId" clId="{C77EBC1D-4659-4E5B-BF69-A37583C894F7}"/>
    <pc:docChg chg="modSld">
      <pc:chgData name="Nicolas Gurtner" userId="7cddb92f0f81b20b" providerId="LiveId" clId="{C77EBC1D-4659-4E5B-BF69-A37583C894F7}" dt="2023-11-16T14:20:17.476" v="1" actId="20577"/>
      <pc:docMkLst>
        <pc:docMk/>
      </pc:docMkLst>
      <pc:sldChg chg="modSp">
        <pc:chgData name="Nicolas Gurtner" userId="7cddb92f0f81b20b" providerId="LiveId" clId="{C77EBC1D-4659-4E5B-BF69-A37583C894F7}" dt="2023-11-16T14:20:17.476" v="1" actId="20577"/>
        <pc:sldMkLst>
          <pc:docMk/>
          <pc:sldMk cId="4575864" sldId="293"/>
        </pc:sldMkLst>
        <pc:spChg chg="mod">
          <ac:chgData name="Nicolas Gurtner" userId="7cddb92f0f81b20b" providerId="LiveId" clId="{C77EBC1D-4659-4E5B-BF69-A37583C894F7}" dt="2023-11-16T14:20:17.476" v="1" actId="20577"/>
          <ac:spMkLst>
            <pc:docMk/>
            <pc:sldMk cId="4575864" sldId="293"/>
            <ac:spMk id="3" creationId="{C48407A7-8EA4-4C16-B2E3-A827279F70F5}"/>
          </ac:spMkLst>
        </pc:spChg>
      </pc:sldChg>
    </pc:docChg>
  </pc:docChgLst>
  <pc:docChgLst>
    <pc:chgData name="Nicolas Gurtner" userId="7cddb92f0f81b20b" providerId="LiveId" clId="{DCE7FEF4-DC44-4F66-8ACF-E818AA66C4E9}"/>
    <pc:docChg chg="custSel addSld modSld">
      <pc:chgData name="Nicolas Gurtner" userId="7cddb92f0f81b20b" providerId="LiveId" clId="{DCE7FEF4-DC44-4F66-8ACF-E818AA66C4E9}" dt="2023-12-11T12:52:25.724" v="15" actId="20577"/>
      <pc:docMkLst>
        <pc:docMk/>
      </pc:docMkLst>
      <pc:sldChg chg="add">
        <pc:chgData name="Nicolas Gurtner" userId="7cddb92f0f81b20b" providerId="LiveId" clId="{DCE7FEF4-DC44-4F66-8ACF-E818AA66C4E9}" dt="2023-12-11T12:48:25.925" v="0"/>
        <pc:sldMkLst>
          <pc:docMk/>
          <pc:sldMk cId="3361423151" sldId="267"/>
        </pc:sldMkLst>
      </pc:sldChg>
      <pc:sldChg chg="modSp mod modAnim">
        <pc:chgData name="Nicolas Gurtner" userId="7cddb92f0f81b20b" providerId="LiveId" clId="{DCE7FEF4-DC44-4F66-8ACF-E818AA66C4E9}" dt="2023-12-11T12:52:25.724" v="15" actId="20577"/>
        <pc:sldMkLst>
          <pc:docMk/>
          <pc:sldMk cId="3901986106" sldId="285"/>
        </pc:sldMkLst>
        <pc:spChg chg="mod">
          <ac:chgData name="Nicolas Gurtner" userId="7cddb92f0f81b20b" providerId="LiveId" clId="{DCE7FEF4-DC44-4F66-8ACF-E818AA66C4E9}" dt="2023-12-11T12:52:25.724" v="15" actId="20577"/>
          <ac:spMkLst>
            <pc:docMk/>
            <pc:sldMk cId="3901986106" sldId="285"/>
            <ac:spMk id="3" creationId="{C48407A7-8EA4-4C16-B2E3-A827279F70F5}"/>
          </ac:spMkLst>
        </pc:spChg>
      </pc:sldChg>
    </pc:docChg>
  </pc:docChgLst>
  <pc:docChgLst>
    <pc:chgData name="Nicolas Gurtner" userId="7cddb92f0f81b20b" providerId="LiveId" clId="{6590DFD0-F085-4CAE-9D41-BB07D83EBA7D}"/>
    <pc:docChg chg="modNotesMaster">
      <pc:chgData name="Nicolas Gurtner" userId="7cddb92f0f81b20b" providerId="LiveId" clId="{6590DFD0-F085-4CAE-9D41-BB07D83EBA7D}" dt="2024-02-15T15:10:02.164" v="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592224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93ADC-365B-4F12-9A62-2C185BE802ED}" type="datetimeFigureOut">
              <a:rPr lang="fr-CH" smtClean="0"/>
              <a:pPr/>
              <a:t>15.02.2024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87267" y="3271381"/>
            <a:ext cx="789813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6CD98-00B8-46E4-AB43-C079425CB720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5268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28B3F-623D-4698-9204-376B78346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spc="100" baseline="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ED1371-12A8-4E7D-9841-FE86B0293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 baseline="0">
                <a:latin typeface="Calibri" panose="020F050202020403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6EE2FB-47D4-42AA-976C-C7FAEB67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25F870-103D-40F5-9CDF-9CDF8418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3F6B29-8E3A-4BCF-A2C4-AD27820A8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872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6F720-8AA6-4A96-B3CA-D503C693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5400" spc="100" baseline="0"/>
            </a:lvl1pPr>
          </a:lstStyle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353F78-6DFB-4077-9864-71D18EB4F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4400"/>
            </a:lvl1pPr>
            <a:lvl2pPr>
              <a:defRPr sz="3600"/>
            </a:lvl2pPr>
            <a:lvl3pPr>
              <a:defRPr sz="3200"/>
            </a:lvl3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7004E3-CEA3-4934-9130-D71A31E6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914377" rtl="0" eaLnBrk="1" latinLnBrk="0" hangingPunct="1">
              <a:defRPr lang="fr-CH" sz="1600" kern="1200" baseline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</a:lstStyle>
          <a:p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A6B044-97FB-49DD-8047-0707DCC3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 baseline="0">
                <a:latin typeface="Calibri" panose="020F0502020204030204" pitchFamily="34" charset="0"/>
              </a:defRPr>
            </a:lvl1pPr>
          </a:lstStyle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328EE1-7321-4756-BAD6-6816E58F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aseline="0">
                <a:latin typeface="Calibri" panose="020F0502020204030204" pitchFamily="34" charset="0"/>
              </a:defRPr>
            </a:lvl1pPr>
          </a:lstStyle>
          <a:p>
            <a:fld id="{9AAA63AE-B855-4AA0-8314-7442D6EB9464}" type="slidenum">
              <a:rPr lang="fr-CH" smtClean="0"/>
              <a:pPr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2754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16908-0486-4F27-A3E9-68B36E75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8DD665-57C1-45BC-820C-EE7DD12A7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CF72A8-4123-402A-93DD-8DB50551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634661-6ABE-4E23-AFCC-090400A8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857FF0-CC57-44AA-8869-365C07686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4685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0FC66-822E-4557-8AAF-7BDF7101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CAB62D-9E3E-4728-B38C-8BF54AE62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72E472-7694-4458-A339-31F99B932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30558A-1918-4DA2-BB2F-C9B8DF1A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F119DE-ED86-4E39-8102-2AD82969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8CFAD4-18DE-4AFC-A5A1-B1733314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0617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4F364A-472F-4811-923C-044426CE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646E12-53A4-4C75-B128-8B3700761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CC5493-39FD-4359-8140-1F454AF34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12F37B-7928-47D1-9CC9-D41AF8C0A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09EB8C-83CD-4FAC-BA85-04D5CB455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3712222-8E06-48DD-A287-65D316D48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0C7337B-B78A-483A-A4EE-A588B7D8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521343-FE2D-4E46-93A0-D8860822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0153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204CF-2C25-4D01-B697-97ECF759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9B9E89-3BF8-416E-B74F-F2A7B17E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C65C3C-2178-4080-946C-5F8A7D78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6217D1-E940-4C7E-8C2E-D6C7672F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9580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FA4351-5ABA-41E0-8E2B-17320FA0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D48A6B-239F-46D5-88E8-127416B7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1D6798B-ED1F-4755-9C65-A8D45617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3165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513B8-237A-4EFF-ADDA-818D42651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EEAD80-3978-46D9-A252-9267A9FDC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02B436-EAF6-4277-893B-732575BEA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903968-F3CF-4B3D-BB21-8D1FAAA8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353DFA-9F9F-4954-9119-7CFDC856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8A1263-FB82-46EB-95AD-C846A6D3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4548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1B6D7-8BE4-4C56-B08A-8055AB0A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A9928CB-6D8A-4A1E-9C25-44FF2436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08EA64-1B94-452F-8720-36E7678CA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B984B8-DBDA-45A5-ADC8-C189D788D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CC2F32-FC0C-49B8-B454-E63D11D1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FD00F1-77A3-4D62-B043-598C2520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636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80C3C-A086-48D9-9B70-B13839F7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72EF48-0330-4D70-9020-DE2092B1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D68131-DF83-444A-9D72-7A80093B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9F578C-1BDC-476C-B666-465EEE53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4FD90-C4A1-4784-A9DB-8A8839C5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0172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D0AF1B-3AA7-4A5E-A08D-80DE7F10C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34F035-2FC2-4CD7-8996-B3BE1F86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3C38D4-8AC3-459A-9E38-EB3C7FD9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4238B1-5F84-4BCE-9964-306F8C90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1C02D8-67A6-485B-9906-BC442785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42536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DB6382B-7CF8-448A-9261-A74F5A5D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789D43-F01A-4EC9-B012-B932D5605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H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AC74EF-344A-4AB7-8794-66381A7F5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8A9659-591E-4B96-B1CF-FFCBF698C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3BA2B7-9AFC-4D6D-A810-4999DFAC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A63AE-B855-4AA0-8314-7442D6EB9464}" type="slidenum">
              <a:rPr lang="fr-CH" smtClean="0"/>
              <a:pPr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7737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rgbClr val="C00000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T4EKEyaphg" TargetMode="External"/><Relationship Id="rId2" Type="http://schemas.openxmlformats.org/officeDocument/2006/relationships/hyperlink" Target="https://youtu.be/nG5P0NsOBog?t=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ilymotion.com/video/x4ktvqs" TargetMode="External"/><Relationship Id="rId2" Type="http://schemas.openxmlformats.org/officeDocument/2006/relationships/hyperlink" Target="https://youtu.be/tna3DsCYaTE?t=14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TO9d16c2XRM" TargetMode="External"/><Relationship Id="rId4" Type="http://schemas.openxmlformats.org/officeDocument/2006/relationships/hyperlink" Target="https://www.youtube.com/watch?v=DyNrjKNzKdY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UWSrl-Y4go&amp;feature=youtu.b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GCRMzNc74w" TargetMode="External"/><Relationship Id="rId2" Type="http://schemas.openxmlformats.org/officeDocument/2006/relationships/hyperlink" Target="https://www.youtube.com/watch?v=7Eut9lZ7Ycg&amp;ab_channel=EXCLUTV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dp4I9DIK_pk?t=4" TargetMode="External"/><Relationship Id="rId5" Type="http://schemas.openxmlformats.org/officeDocument/2006/relationships/hyperlink" Target="https://youtu.be/yq8nIH8yqOs" TargetMode="External"/><Relationship Id="rId4" Type="http://schemas.openxmlformats.org/officeDocument/2006/relationships/hyperlink" Target="https://www.youtube.com/watch?v=MJvkIh-7gy8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CFu-TW6988?si=GrhiM5SuNHIU0mZZ&amp;t=259" TargetMode="External"/><Relationship Id="rId2" Type="http://schemas.openxmlformats.org/officeDocument/2006/relationships/hyperlink" Target="https://youtu.be/L9S_WF_YlkM?t=722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D3F15-2351-4C0D-8B52-1A879B56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9000"/>
            <a:ext cx="9144000" cy="2387600"/>
          </a:xfrm>
        </p:spPr>
        <p:txBody>
          <a:bodyPr/>
          <a:lstStyle/>
          <a:p>
            <a:r>
              <a:rPr lang="fr-CH" dirty="0"/>
              <a:t>LA PAROLE EST UNE VOIE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798903-0A24-43DB-9ACB-4237B40CF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98675"/>
            <a:ext cx="9144000" cy="1655762"/>
          </a:xfrm>
        </p:spPr>
        <p:txBody>
          <a:bodyPr/>
          <a:lstStyle/>
          <a:p>
            <a:r>
              <a:rPr lang="fr-CH" dirty="0"/>
              <a:t>L’art de convaincre</a:t>
            </a:r>
          </a:p>
          <a:p>
            <a:r>
              <a:rPr lang="fr-CH" dirty="0"/>
              <a:t>Cours B : les parties du discours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8C005E1-8DB6-4D2B-BF62-35B4F303A4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287" y="5257800"/>
            <a:ext cx="3381375" cy="676275"/>
          </a:xfrm>
          <a:prstGeom prst="rect">
            <a:avLst/>
          </a:prstGeom>
        </p:spPr>
      </p:pic>
      <p:pic>
        <p:nvPicPr>
          <p:cNvPr id="1026" name="Picture 2" descr="RÃ©sultat de recherche d'images pour &quot;logo DIP genÃ¨ve&quot;">
            <a:extLst>
              <a:ext uri="{FF2B5EF4-FFF2-40B4-BE49-F238E27FC236}">
                <a16:creationId xmlns:a16="http://schemas.microsoft.com/office/drawing/2014/main" id="{E88829E8-4365-487C-A1C1-00884ECD0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3395" y="4842905"/>
            <a:ext cx="1844058" cy="150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7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Feuille de route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</a:t>
            </a:fld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2E0C0-A286-4FC7-ACC5-496CD52BF495}"/>
              </a:ext>
            </a:extLst>
          </p:cNvPr>
          <p:cNvSpPr txBox="1"/>
          <p:nvPr/>
        </p:nvSpPr>
        <p:spPr>
          <a:xfrm>
            <a:off x="8037095" y="1902998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Invention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BA731B-6DE5-4DCA-AA06-7530D35F8379}"/>
              </a:ext>
            </a:extLst>
          </p:cNvPr>
          <p:cNvSpPr txBox="1"/>
          <p:nvPr/>
        </p:nvSpPr>
        <p:spPr>
          <a:xfrm>
            <a:off x="838201" y="1902996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Arguments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958BBC-4638-4EFA-8930-404457DFA0B8}"/>
              </a:ext>
            </a:extLst>
          </p:cNvPr>
          <p:cNvSpPr txBox="1"/>
          <p:nvPr/>
        </p:nvSpPr>
        <p:spPr>
          <a:xfrm>
            <a:off x="8037095" y="2517351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Disposition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6F7278-FB0A-49DB-9957-5E526397C238}"/>
              </a:ext>
            </a:extLst>
          </p:cNvPr>
          <p:cNvSpPr txBox="1"/>
          <p:nvPr/>
        </p:nvSpPr>
        <p:spPr>
          <a:xfrm>
            <a:off x="838201" y="251734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Structure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939E53-1C05-4C63-8912-441C5C0BC61C}"/>
              </a:ext>
            </a:extLst>
          </p:cNvPr>
          <p:cNvSpPr txBox="1"/>
          <p:nvPr/>
        </p:nvSpPr>
        <p:spPr>
          <a:xfrm>
            <a:off x="8037095" y="3131706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Élocution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86E0D0-BB0C-490A-8041-910C9E312F9C}"/>
              </a:ext>
            </a:extLst>
          </p:cNvPr>
          <p:cNvSpPr txBox="1"/>
          <p:nvPr/>
        </p:nvSpPr>
        <p:spPr>
          <a:xfrm>
            <a:off x="838201" y="3131704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Style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726B1F-4DF3-4E05-B62D-EA42BAD17BED}"/>
              </a:ext>
            </a:extLst>
          </p:cNvPr>
          <p:cNvSpPr txBox="1"/>
          <p:nvPr/>
        </p:nvSpPr>
        <p:spPr>
          <a:xfrm>
            <a:off x="8037095" y="3746059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Action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C6132-BB18-460D-AE81-5CA707ADDE58}"/>
              </a:ext>
            </a:extLst>
          </p:cNvPr>
          <p:cNvSpPr txBox="1"/>
          <p:nvPr/>
        </p:nvSpPr>
        <p:spPr>
          <a:xfrm>
            <a:off x="838201" y="374605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Présence</a:t>
            </a:r>
            <a:r>
              <a:rPr lang="en-GB" sz="3200" b="1" dirty="0">
                <a:solidFill>
                  <a:srgbClr val="C00000"/>
                </a:solidFill>
              </a:rPr>
              <a:t> : </a:t>
            </a:r>
            <a:r>
              <a:rPr lang="en-GB" sz="3200" b="1" dirty="0" err="1">
                <a:solidFill>
                  <a:srgbClr val="C00000"/>
                </a:solidFill>
              </a:rPr>
              <a:t>voix</a:t>
            </a:r>
            <a:r>
              <a:rPr lang="en-GB" sz="3200" b="1" dirty="0">
                <a:solidFill>
                  <a:srgbClr val="C00000"/>
                </a:solidFill>
              </a:rPr>
              <a:t> et corps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37AF2-A576-49D4-B3FA-357A0CB92BD2}"/>
              </a:ext>
            </a:extLst>
          </p:cNvPr>
          <p:cNvSpPr txBox="1"/>
          <p:nvPr/>
        </p:nvSpPr>
        <p:spPr>
          <a:xfrm>
            <a:off x="8037095" y="4360414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Mémoire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575F060-CCD9-4C7E-B93C-36AD7D1064B6}"/>
              </a:ext>
            </a:extLst>
          </p:cNvPr>
          <p:cNvSpPr txBox="1"/>
          <p:nvPr/>
        </p:nvSpPr>
        <p:spPr>
          <a:xfrm>
            <a:off x="838201" y="4360412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Mémoire</a:t>
            </a:r>
            <a:endParaRPr lang="en-GB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2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3</a:t>
            </a:fld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172E0C0-A286-4FC7-ACC5-496CD52BF495}"/>
              </a:ext>
            </a:extLst>
          </p:cNvPr>
          <p:cNvSpPr txBox="1"/>
          <p:nvPr/>
        </p:nvSpPr>
        <p:spPr>
          <a:xfrm>
            <a:off x="8037095" y="1902998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Exorde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BA731B-6DE5-4DCA-AA06-7530D35F8379}"/>
              </a:ext>
            </a:extLst>
          </p:cNvPr>
          <p:cNvSpPr txBox="1"/>
          <p:nvPr/>
        </p:nvSpPr>
        <p:spPr>
          <a:xfrm>
            <a:off x="838201" y="1902996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958BBC-4638-4EFA-8930-404457DFA0B8}"/>
              </a:ext>
            </a:extLst>
          </p:cNvPr>
          <p:cNvSpPr txBox="1"/>
          <p:nvPr/>
        </p:nvSpPr>
        <p:spPr>
          <a:xfrm>
            <a:off x="8037095" y="2517351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Narration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6F7278-FB0A-49DB-9957-5E526397C238}"/>
              </a:ext>
            </a:extLst>
          </p:cNvPr>
          <p:cNvSpPr txBox="1"/>
          <p:nvPr/>
        </p:nvSpPr>
        <p:spPr>
          <a:xfrm>
            <a:off x="838201" y="2517349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i="1" dirty="0">
                <a:solidFill>
                  <a:srgbClr val="C00000"/>
                </a:solidFill>
              </a:rPr>
              <a:t>(Les </a:t>
            </a:r>
            <a:r>
              <a:rPr lang="en-GB" sz="3200" b="1" i="1" dirty="0" err="1">
                <a:solidFill>
                  <a:srgbClr val="C00000"/>
                </a:solidFill>
              </a:rPr>
              <a:t>faits</a:t>
            </a:r>
            <a:r>
              <a:rPr lang="en-GB" sz="3200" b="1" i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0939E53-1C05-4C63-8912-441C5C0BC61C}"/>
              </a:ext>
            </a:extLst>
          </p:cNvPr>
          <p:cNvSpPr txBox="1"/>
          <p:nvPr/>
        </p:nvSpPr>
        <p:spPr>
          <a:xfrm>
            <a:off x="8037095" y="3131706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Division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86E0D0-BB0C-490A-8041-910C9E312F9C}"/>
              </a:ext>
            </a:extLst>
          </p:cNvPr>
          <p:cNvSpPr txBox="1"/>
          <p:nvPr/>
        </p:nvSpPr>
        <p:spPr>
          <a:xfrm>
            <a:off x="838201" y="3131704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 err="1">
                <a:solidFill>
                  <a:srgbClr val="C00000"/>
                </a:solidFill>
              </a:rPr>
              <a:t>Annonce</a:t>
            </a:r>
            <a:r>
              <a:rPr lang="en-GB" sz="3200" b="1" dirty="0">
                <a:solidFill>
                  <a:srgbClr val="C00000"/>
                </a:solidFill>
              </a:rPr>
              <a:t> de la suite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5726B1F-4DF3-4E05-B62D-EA42BAD17BED}"/>
              </a:ext>
            </a:extLst>
          </p:cNvPr>
          <p:cNvSpPr txBox="1"/>
          <p:nvPr/>
        </p:nvSpPr>
        <p:spPr>
          <a:xfrm>
            <a:off x="8037095" y="3746059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Confirmation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F9C6132-BB18-460D-AE81-5CA707ADDE58}"/>
              </a:ext>
            </a:extLst>
          </p:cNvPr>
          <p:cNvSpPr txBox="1"/>
          <p:nvPr/>
        </p:nvSpPr>
        <p:spPr>
          <a:xfrm>
            <a:off x="838201" y="3746057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Vos arguments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237AF2-A576-49D4-B3FA-357A0CB92BD2}"/>
              </a:ext>
            </a:extLst>
          </p:cNvPr>
          <p:cNvSpPr txBox="1"/>
          <p:nvPr/>
        </p:nvSpPr>
        <p:spPr>
          <a:xfrm>
            <a:off x="8037095" y="4360414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Réfutation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575F060-CCD9-4C7E-B93C-36AD7D1064B6}"/>
              </a:ext>
            </a:extLst>
          </p:cNvPr>
          <p:cNvSpPr txBox="1"/>
          <p:nvPr/>
        </p:nvSpPr>
        <p:spPr>
          <a:xfrm>
            <a:off x="838201" y="4360412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Les arguments de </a:t>
            </a:r>
            <a:r>
              <a:rPr lang="en-GB" sz="3200" b="1" dirty="0" err="1">
                <a:solidFill>
                  <a:srgbClr val="C00000"/>
                </a:solidFill>
              </a:rPr>
              <a:t>l’adversaire</a:t>
            </a:r>
            <a:endParaRPr lang="en-GB" sz="3200" b="1" dirty="0">
              <a:solidFill>
                <a:srgbClr val="C0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48EDF20-8157-492F-BB76-33F8CE854400}"/>
              </a:ext>
            </a:extLst>
          </p:cNvPr>
          <p:cNvSpPr txBox="1"/>
          <p:nvPr/>
        </p:nvSpPr>
        <p:spPr>
          <a:xfrm>
            <a:off x="8037095" y="4974767"/>
            <a:ext cx="3316707" cy="614355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dirty="0" err="1">
                <a:solidFill>
                  <a:schemeClr val="bg1"/>
                </a:solidFill>
              </a:rPr>
              <a:t>Péroraison</a:t>
            </a:r>
            <a:endParaRPr lang="en-GB" sz="3200" dirty="0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AE682BD-B24A-48D0-A030-33BA03D5E3DF}"/>
              </a:ext>
            </a:extLst>
          </p:cNvPr>
          <p:cNvSpPr txBox="1"/>
          <p:nvPr/>
        </p:nvSpPr>
        <p:spPr>
          <a:xfrm>
            <a:off x="838201" y="4974765"/>
            <a:ext cx="7198895" cy="614355"/>
          </a:xfrm>
          <a:prstGeom prst="rect">
            <a:avLst/>
          </a:prstGeom>
          <a:noFill/>
          <a:ln>
            <a:solidFill>
              <a:srgbClr val="A91C2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3200" b="1" dirty="0">
                <a:solidFill>
                  <a:srgbClr val="C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8593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Très important : les tout premiers mots</a:t>
            </a:r>
          </a:p>
          <a:p>
            <a:r>
              <a:rPr lang="fr-CH" dirty="0"/>
              <a:t>Le fond : 4 points </a:t>
            </a:r>
          </a:p>
          <a:p>
            <a:pPr lvl="1"/>
            <a:r>
              <a:rPr lang="fr-CH" dirty="0"/>
              <a:t>De quoi je parle </a:t>
            </a:r>
          </a:p>
          <a:p>
            <a:pPr lvl="1"/>
            <a:r>
              <a:rPr lang="fr-CH" dirty="0"/>
              <a:t>Pourquoi</a:t>
            </a:r>
          </a:p>
          <a:p>
            <a:pPr lvl="1"/>
            <a:r>
              <a:rPr lang="fr-CH" dirty="0"/>
              <a:t>De quoi je ne parle pas</a:t>
            </a:r>
          </a:p>
          <a:p>
            <a:pPr lvl="1"/>
            <a:r>
              <a:rPr lang="fr-CH" dirty="0"/>
              <a:t>Annoncer la suite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4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7420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H" dirty="0"/>
              <a:t>Le public : 3 points</a:t>
            </a:r>
          </a:p>
          <a:p>
            <a:pPr lvl="1"/>
            <a:r>
              <a:rPr lang="fr-CH" dirty="0"/>
              <a:t>Attentif</a:t>
            </a:r>
          </a:p>
          <a:p>
            <a:pPr lvl="1"/>
            <a:r>
              <a:rPr lang="fr-CH" dirty="0"/>
              <a:t>Docile</a:t>
            </a:r>
          </a:p>
          <a:p>
            <a:pPr lvl="1"/>
            <a:r>
              <a:rPr lang="fr-CH" dirty="0"/>
              <a:t>Bienveillant</a:t>
            </a:r>
          </a:p>
          <a:p>
            <a:r>
              <a:rPr lang="fr-CH" dirty="0"/>
              <a:t>Exemples </a:t>
            </a:r>
          </a:p>
          <a:p>
            <a:pPr lvl="1"/>
            <a:r>
              <a:rPr lang="fr-CH" dirty="0"/>
              <a:t>Amal Clooney : humble et modeste </a:t>
            </a:r>
            <a:r>
              <a:rPr lang="fr-CH" dirty="0">
                <a:hlinkClick r:id="rId2"/>
              </a:rPr>
              <a:t>https://youtu.be/nG5P0NsOBog?t=5</a:t>
            </a:r>
            <a:r>
              <a:rPr lang="fr-CH" dirty="0"/>
              <a:t> </a:t>
            </a:r>
          </a:p>
          <a:p>
            <a:pPr lvl="1"/>
            <a:r>
              <a:rPr lang="fr-CH" dirty="0"/>
              <a:t>Contre-exemple : « je ne vous aime pas » (E. Dupont-Moretti) </a:t>
            </a:r>
            <a:r>
              <a:rPr lang="fr-CH" dirty="0">
                <a:hlinkClick r:id="rId3"/>
              </a:rPr>
              <a:t>https://www.youtube.com/watch?v=KT4EKEyaphg</a:t>
            </a:r>
            <a:r>
              <a:rPr lang="fr-CH" dirty="0"/>
              <a:t> 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5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25484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H" dirty="0"/>
              <a:t>Préparation</a:t>
            </a:r>
          </a:p>
          <a:p>
            <a:pPr lvl="1"/>
            <a:r>
              <a:rPr lang="fr-CH" dirty="0"/>
              <a:t>Prendre le temps</a:t>
            </a:r>
          </a:p>
          <a:p>
            <a:pPr lvl="1"/>
            <a:r>
              <a:rPr lang="fr-CH" dirty="0"/>
              <a:t>Le faire à la fin de la préparation du discours</a:t>
            </a:r>
          </a:p>
          <a:p>
            <a:r>
              <a:rPr lang="fr-CH" dirty="0"/>
              <a:t>Thèmes typiques</a:t>
            </a:r>
          </a:p>
          <a:p>
            <a:pPr lvl="1"/>
            <a:r>
              <a:rPr lang="fr-CH" dirty="0"/>
              <a:t>Lieu du discours</a:t>
            </a:r>
          </a:p>
          <a:p>
            <a:pPr lvl="1"/>
            <a:r>
              <a:rPr lang="fr-CH" dirty="0"/>
              <a:t>Une personne</a:t>
            </a:r>
          </a:p>
          <a:p>
            <a:pPr lvl="1"/>
            <a:r>
              <a:rPr lang="fr-CH" dirty="0"/>
              <a:t>L’humour</a:t>
            </a:r>
          </a:p>
          <a:p>
            <a:pPr lvl="1"/>
            <a:r>
              <a:rPr lang="fr-CH" dirty="0"/>
              <a:t>Une citation</a:t>
            </a:r>
          </a:p>
          <a:p>
            <a:pPr lvl="1"/>
            <a:r>
              <a:rPr lang="fr-CH" dirty="0"/>
              <a:t>L’orateur lui-même</a:t>
            </a:r>
          </a:p>
          <a:p>
            <a:pPr lvl="1"/>
            <a:r>
              <a:rPr lang="fr-CH" dirty="0"/>
              <a:t>L’auditoire</a:t>
            </a:r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0198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H" dirty="0"/>
              <a:t>Exemples</a:t>
            </a:r>
          </a:p>
          <a:p>
            <a:pPr lvl="1"/>
            <a:r>
              <a:rPr lang="fr-CH" dirty="0"/>
              <a:t>Mystérieux, sinueux, malicieux (Christiane Taubira) </a:t>
            </a:r>
            <a:r>
              <a:rPr lang="fr-CH" dirty="0">
                <a:hlinkClick r:id="rId2"/>
              </a:rPr>
              <a:t>https://youtu.be/tna3DsCYaTE?t=145</a:t>
            </a:r>
            <a:r>
              <a:rPr lang="fr-CH" dirty="0"/>
              <a:t> (2’25)</a:t>
            </a:r>
          </a:p>
          <a:p>
            <a:pPr lvl="1"/>
            <a:r>
              <a:rPr lang="fr-CH" dirty="0"/>
              <a:t>Progression (voix et propos) (Robert Badinter) </a:t>
            </a:r>
            <a:r>
              <a:rPr lang="fr-CH" dirty="0">
                <a:hlinkClick r:id="rId3"/>
              </a:rPr>
              <a:t>https://www.dailymotion.com/video/x4ktvqs</a:t>
            </a:r>
            <a:r>
              <a:rPr lang="fr-CH" dirty="0"/>
              <a:t> </a:t>
            </a:r>
          </a:p>
          <a:p>
            <a:pPr lvl="1"/>
            <a:r>
              <a:rPr lang="fr-CH" dirty="0"/>
              <a:t>Humour (Me Denis </a:t>
            </a:r>
            <a:r>
              <a:rPr lang="fr-CH" dirty="0" err="1"/>
              <a:t>Agboton</a:t>
            </a:r>
            <a:r>
              <a:rPr lang="fr-CH" dirty="0"/>
              <a:t>) </a:t>
            </a:r>
            <a:r>
              <a:rPr lang="fr-CH" dirty="0">
                <a:hlinkClick r:id="rId4"/>
              </a:rPr>
              <a:t>https://www.youtube.com/watch?v=DyNrjKNzKdY</a:t>
            </a:r>
            <a:endParaRPr lang="fr-CH" dirty="0"/>
          </a:p>
          <a:p>
            <a:pPr lvl="1"/>
            <a:r>
              <a:rPr lang="fr-CH" dirty="0"/>
              <a:t>Humour (Barack Obama) </a:t>
            </a:r>
            <a:r>
              <a:rPr lang="fr-CH" dirty="0">
                <a:hlinkClick r:id="rId5"/>
              </a:rPr>
              <a:t>https://www.youtube.com/watch?v=TO9d16c2XRM</a:t>
            </a:r>
            <a:endParaRPr lang="fr-CH" dirty="0"/>
          </a:p>
          <a:p>
            <a:pPr marL="457189" lvl="1" indent="0">
              <a:buNone/>
            </a:pPr>
            <a:endParaRPr lang="fr-CH" dirty="0"/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3664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8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BC583BF-E9A6-41B7-A8A8-5DDBD50AE85F}"/>
              </a:ext>
            </a:extLst>
          </p:cNvPr>
          <p:cNvGrpSpPr/>
          <p:nvPr/>
        </p:nvGrpSpPr>
        <p:grpSpPr>
          <a:xfrm>
            <a:off x="838201" y="1902996"/>
            <a:ext cx="10515601" cy="3686126"/>
            <a:chOff x="838201" y="1902996"/>
            <a:chExt cx="10515601" cy="3686126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Exorde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Introduction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Narration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i="1" dirty="0">
                  <a:solidFill>
                    <a:srgbClr val="C00000"/>
                  </a:solidFill>
                </a:rPr>
                <a:t>(Les </a:t>
              </a:r>
              <a:r>
                <a:rPr lang="en-GB" sz="3200" b="1" i="1" dirty="0" err="1">
                  <a:solidFill>
                    <a:srgbClr val="C00000"/>
                  </a:solidFill>
                </a:rPr>
                <a:t>faits</a:t>
              </a:r>
              <a:r>
                <a:rPr lang="en-GB" sz="3200" b="1" i="1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Division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Annonce</a:t>
              </a:r>
              <a:r>
                <a:rPr lang="en-GB" sz="3200" b="1" dirty="0">
                  <a:solidFill>
                    <a:srgbClr val="C00000"/>
                  </a:solidFill>
                </a:rPr>
                <a:t> de la suite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Confirmation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Vos arguments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Réfutation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Les arguments de </a:t>
              </a:r>
              <a:r>
                <a:rPr lang="en-GB" sz="3200" b="1" dirty="0" err="1">
                  <a:solidFill>
                    <a:srgbClr val="C00000"/>
                  </a:solidFill>
                </a:rPr>
                <a:t>l’adversaire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48EDF20-8157-492F-BB76-33F8CE854400}"/>
                </a:ext>
              </a:extLst>
            </p:cNvPr>
            <p:cNvSpPr txBox="1"/>
            <p:nvPr/>
          </p:nvSpPr>
          <p:spPr>
            <a:xfrm>
              <a:off x="8037095" y="4974767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Péroraison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AE682BD-B24A-48D0-A030-33BA03D5E3DF}"/>
                </a:ext>
              </a:extLst>
            </p:cNvPr>
            <p:cNvSpPr txBox="1"/>
            <p:nvPr/>
          </p:nvSpPr>
          <p:spPr>
            <a:xfrm>
              <a:off x="838201" y="4974765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0212C8B1-A9BA-4954-B67B-1562ADAEE71A}"/>
              </a:ext>
            </a:extLst>
          </p:cNvPr>
          <p:cNvSpPr/>
          <p:nvPr/>
        </p:nvSpPr>
        <p:spPr>
          <a:xfrm>
            <a:off x="3145743" y="2408660"/>
            <a:ext cx="2583809" cy="831735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4762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Les faits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Présenter les bases pertinentes du débats</a:t>
            </a:r>
          </a:p>
          <a:p>
            <a:r>
              <a:rPr lang="fr-CH" dirty="0"/>
              <a:t>Clarifier les notions compliquées/complexes</a:t>
            </a:r>
          </a:p>
          <a:p>
            <a:pPr lvl="1"/>
            <a:r>
              <a:rPr lang="fr-CH" dirty="0"/>
              <a:t>Notions abstraites =&gt; choisir</a:t>
            </a:r>
          </a:p>
          <a:p>
            <a:r>
              <a:rPr lang="fr-CH" dirty="0"/>
              <a:t>Badinter </a:t>
            </a:r>
            <a:r>
              <a:rPr lang="fr-CH" i="1" dirty="0"/>
              <a:t>re </a:t>
            </a:r>
            <a:r>
              <a:rPr lang="fr-CH" dirty="0"/>
              <a:t>homosexualité</a:t>
            </a:r>
          </a:p>
          <a:p>
            <a:pPr lvl="1"/>
            <a:r>
              <a:rPr lang="fr-CH" dirty="0">
                <a:hlinkClick r:id="rId2"/>
              </a:rPr>
              <a:t>https://www.youtube.com/watch?v=pUWSrl-Y4go&amp;feature=youtu.be</a:t>
            </a:r>
            <a:endParaRPr lang="fr-CH" dirty="0"/>
          </a:p>
          <a:p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9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08691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10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BC583BF-E9A6-41B7-A8A8-5DDBD50AE85F}"/>
              </a:ext>
            </a:extLst>
          </p:cNvPr>
          <p:cNvGrpSpPr/>
          <p:nvPr/>
        </p:nvGrpSpPr>
        <p:grpSpPr>
          <a:xfrm>
            <a:off x="838200" y="1902996"/>
            <a:ext cx="10515601" cy="3686126"/>
            <a:chOff x="838201" y="1902996"/>
            <a:chExt cx="10515601" cy="3686126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Exorde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Introduction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Narration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i="1" dirty="0">
                  <a:solidFill>
                    <a:srgbClr val="C00000"/>
                  </a:solidFill>
                </a:rPr>
                <a:t>(Les </a:t>
              </a:r>
              <a:r>
                <a:rPr lang="en-GB" sz="3200" b="1" i="1" dirty="0" err="1">
                  <a:solidFill>
                    <a:srgbClr val="C00000"/>
                  </a:solidFill>
                </a:rPr>
                <a:t>faits</a:t>
              </a:r>
              <a:r>
                <a:rPr lang="en-GB" sz="3200" b="1" i="1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Division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Annonce</a:t>
              </a:r>
              <a:r>
                <a:rPr lang="en-GB" sz="3200" b="1" dirty="0">
                  <a:solidFill>
                    <a:srgbClr val="C00000"/>
                  </a:solidFill>
                </a:rPr>
                <a:t> de la suite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Confirmation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Vos arguments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Réfutation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Les arguments de </a:t>
              </a:r>
              <a:r>
                <a:rPr lang="en-GB" sz="3200" b="1" dirty="0" err="1">
                  <a:solidFill>
                    <a:srgbClr val="C00000"/>
                  </a:solidFill>
                </a:rPr>
                <a:t>l’adversaire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48EDF20-8157-492F-BB76-33F8CE854400}"/>
                </a:ext>
              </a:extLst>
            </p:cNvPr>
            <p:cNvSpPr txBox="1"/>
            <p:nvPr/>
          </p:nvSpPr>
          <p:spPr>
            <a:xfrm>
              <a:off x="8037095" y="4974767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Péroraison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AE682BD-B24A-48D0-A030-33BA03D5E3DF}"/>
                </a:ext>
              </a:extLst>
            </p:cNvPr>
            <p:cNvSpPr txBox="1"/>
            <p:nvPr/>
          </p:nvSpPr>
          <p:spPr>
            <a:xfrm>
              <a:off x="838201" y="4974765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0212C8B1-A9BA-4954-B67B-1562ADAEE71A}"/>
              </a:ext>
            </a:extLst>
          </p:cNvPr>
          <p:cNvSpPr/>
          <p:nvPr/>
        </p:nvSpPr>
        <p:spPr>
          <a:xfrm>
            <a:off x="2558643" y="3013132"/>
            <a:ext cx="3733100" cy="831735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6738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Annonce de la suite (division)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Annoncer vos arguments</a:t>
            </a:r>
          </a:p>
          <a:p>
            <a:r>
              <a:rPr lang="fr-CH" dirty="0"/>
              <a:t>Cette partie n’est pas toujours obligatoire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11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325809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12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BC583BF-E9A6-41B7-A8A8-5DDBD50AE85F}"/>
              </a:ext>
            </a:extLst>
          </p:cNvPr>
          <p:cNvGrpSpPr/>
          <p:nvPr/>
        </p:nvGrpSpPr>
        <p:grpSpPr>
          <a:xfrm>
            <a:off x="838200" y="1902996"/>
            <a:ext cx="10515601" cy="3686126"/>
            <a:chOff x="838201" y="1902996"/>
            <a:chExt cx="10515601" cy="3686126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Exorde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Introduction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Narration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i="1" dirty="0">
                  <a:solidFill>
                    <a:srgbClr val="C00000"/>
                  </a:solidFill>
                </a:rPr>
                <a:t>(Les </a:t>
              </a:r>
              <a:r>
                <a:rPr lang="en-GB" sz="3200" b="1" i="1" dirty="0" err="1">
                  <a:solidFill>
                    <a:srgbClr val="C00000"/>
                  </a:solidFill>
                </a:rPr>
                <a:t>faits</a:t>
              </a:r>
              <a:r>
                <a:rPr lang="en-GB" sz="3200" b="1" i="1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Division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Annonce</a:t>
              </a:r>
              <a:r>
                <a:rPr lang="en-GB" sz="3200" b="1" dirty="0">
                  <a:solidFill>
                    <a:srgbClr val="C00000"/>
                  </a:solidFill>
                </a:rPr>
                <a:t> de la suite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Confirmation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Vos arguments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Réfutation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Les arguments de </a:t>
              </a:r>
              <a:r>
                <a:rPr lang="en-GB" sz="3200" b="1" dirty="0" err="1">
                  <a:solidFill>
                    <a:srgbClr val="C00000"/>
                  </a:solidFill>
                </a:rPr>
                <a:t>l’adversaire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48EDF20-8157-492F-BB76-33F8CE854400}"/>
                </a:ext>
              </a:extLst>
            </p:cNvPr>
            <p:cNvSpPr txBox="1"/>
            <p:nvPr/>
          </p:nvSpPr>
          <p:spPr>
            <a:xfrm>
              <a:off x="8037095" y="4974767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Péroraison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AE682BD-B24A-48D0-A030-33BA03D5E3DF}"/>
                </a:ext>
              </a:extLst>
            </p:cNvPr>
            <p:cNvSpPr txBox="1"/>
            <p:nvPr/>
          </p:nvSpPr>
          <p:spPr>
            <a:xfrm>
              <a:off x="838201" y="4974765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0212C8B1-A9BA-4954-B67B-1562ADAEE71A}"/>
              </a:ext>
            </a:extLst>
          </p:cNvPr>
          <p:cNvSpPr/>
          <p:nvPr/>
        </p:nvSpPr>
        <p:spPr>
          <a:xfrm>
            <a:off x="2869035" y="3637366"/>
            <a:ext cx="3018769" cy="831735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7985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47EB4-83B5-4FCD-A4D5-EFC5E3CC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Vos 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B94869-DBBA-44F4-9F2B-2DFC238BC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  <a:p>
            <a:pPr lvl="1"/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A13776-E461-42BF-ACF6-15E3F07F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1D3F86-D66D-4BA4-9673-887675667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13</a:t>
            </a:fld>
            <a:endParaRPr lang="fr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688F30-9395-4216-99E4-B201A164EC1C}"/>
              </a:ext>
            </a:extLst>
          </p:cNvPr>
          <p:cNvSpPr/>
          <p:nvPr/>
        </p:nvSpPr>
        <p:spPr>
          <a:xfrm>
            <a:off x="5712105" y="3181889"/>
            <a:ext cx="1229802" cy="532734"/>
          </a:xfrm>
          <a:prstGeom prst="rect">
            <a:avLst/>
          </a:prstGeom>
          <a:solidFill>
            <a:srgbClr val="A91C2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C6C9D7-F6E6-4618-9926-8F55A1F2E5D6}"/>
              </a:ext>
            </a:extLst>
          </p:cNvPr>
          <p:cNvSpPr/>
          <p:nvPr/>
        </p:nvSpPr>
        <p:spPr>
          <a:xfrm>
            <a:off x="7380798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33D93-6839-4247-BCEE-EC1C068064B9}"/>
              </a:ext>
            </a:extLst>
          </p:cNvPr>
          <p:cNvSpPr/>
          <p:nvPr/>
        </p:nvSpPr>
        <p:spPr>
          <a:xfrm>
            <a:off x="9600016" y="4935073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4F08F-6CC2-4726-9BED-A07237E124FF}"/>
              </a:ext>
            </a:extLst>
          </p:cNvPr>
          <p:cNvSpPr/>
          <p:nvPr/>
        </p:nvSpPr>
        <p:spPr>
          <a:xfrm>
            <a:off x="9104522" y="571151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F769BE-7A3C-41A1-88EE-C583D9623084}"/>
              </a:ext>
            </a:extLst>
          </p:cNvPr>
          <p:cNvSpPr/>
          <p:nvPr/>
        </p:nvSpPr>
        <p:spPr>
          <a:xfrm>
            <a:off x="9600016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9C0933-60DA-4C0D-8761-53B727B475B2}"/>
              </a:ext>
            </a:extLst>
          </p:cNvPr>
          <p:cNvSpPr/>
          <p:nvPr/>
        </p:nvSpPr>
        <p:spPr>
          <a:xfrm>
            <a:off x="7380798" y="2630325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A849D-8FC3-4CC9-A027-8F9921F4381E}"/>
              </a:ext>
            </a:extLst>
          </p:cNvPr>
          <p:cNvSpPr/>
          <p:nvPr/>
        </p:nvSpPr>
        <p:spPr>
          <a:xfrm>
            <a:off x="9600016" y="2649155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FA0203-85B3-4CE4-822A-96F9DFFAF1EF}"/>
              </a:ext>
            </a:extLst>
          </p:cNvPr>
          <p:cNvSpPr/>
          <p:nvPr/>
        </p:nvSpPr>
        <p:spPr>
          <a:xfrm>
            <a:off x="9533158" y="1603716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02E8C-BF8B-4E49-ABC0-675D4D919FA3}"/>
              </a:ext>
            </a:extLst>
          </p:cNvPr>
          <p:cNvSpPr/>
          <p:nvPr/>
        </p:nvSpPr>
        <p:spPr>
          <a:xfrm>
            <a:off x="1728916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5655C7-748A-41AF-871E-59735C97E3E8}"/>
              </a:ext>
            </a:extLst>
          </p:cNvPr>
          <p:cNvSpPr/>
          <p:nvPr/>
        </p:nvSpPr>
        <p:spPr>
          <a:xfrm>
            <a:off x="1739103" y="3029569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AD5515-B623-42A6-ADFA-6016C853615D}"/>
              </a:ext>
            </a:extLst>
          </p:cNvPr>
          <p:cNvSpPr/>
          <p:nvPr/>
        </p:nvSpPr>
        <p:spPr>
          <a:xfrm>
            <a:off x="1728916" y="4935073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24E2B7-E1D2-4E21-9F82-5EB39CC50FCF}"/>
              </a:ext>
            </a:extLst>
          </p:cNvPr>
          <p:cNvSpPr/>
          <p:nvPr/>
        </p:nvSpPr>
        <p:spPr>
          <a:xfrm>
            <a:off x="3948134" y="400129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8429E7-1B47-4F28-8539-F71D212523F7}"/>
              </a:ext>
            </a:extLst>
          </p:cNvPr>
          <p:cNvSpPr/>
          <p:nvPr/>
        </p:nvSpPr>
        <p:spPr>
          <a:xfrm>
            <a:off x="3948134" y="2565304"/>
            <a:ext cx="1229802" cy="5327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02356B50-CE94-4D3E-99E7-DF08CAA30DDC}"/>
              </a:ext>
            </a:extLst>
          </p:cNvPr>
          <p:cNvCxnSpPr>
            <a:stCxn id="16" idx="1"/>
            <a:endCxn id="11" idx="3"/>
          </p:cNvCxnSpPr>
          <p:nvPr/>
        </p:nvCxnSpPr>
        <p:spPr>
          <a:xfrm flipH="1">
            <a:off x="6941907" y="2896692"/>
            <a:ext cx="438891" cy="55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EFC42BD-C689-403F-B087-8A8B53ECA768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8610600" y="2896692"/>
            <a:ext cx="989416" cy="18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E7E94CB-A953-4D90-8FC6-5BECC819FF25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 flipV="1">
            <a:off x="6941907" y="3448256"/>
            <a:ext cx="438891" cy="819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D58A47B6-D22D-480B-B058-38659B3F125B}"/>
              </a:ext>
            </a:extLst>
          </p:cNvPr>
          <p:cNvCxnSpPr/>
          <p:nvPr/>
        </p:nvCxnSpPr>
        <p:spPr>
          <a:xfrm>
            <a:off x="8610600" y="4269505"/>
            <a:ext cx="989416" cy="18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B5CA0672-E130-4295-AC64-0F22C82CFAF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610600" y="4267661"/>
            <a:ext cx="989416" cy="933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23A768B-A664-46F4-BD42-826060F57B7D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610600" y="4267661"/>
            <a:ext cx="493922" cy="1710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88A35178-8718-4BC6-BB34-74F35D984FD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 flipV="1">
            <a:off x="8610600" y="1870083"/>
            <a:ext cx="922558" cy="1026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895C2C04-9980-4198-9668-7BFEB59C2590}"/>
              </a:ext>
            </a:extLst>
          </p:cNvPr>
          <p:cNvCxnSpPr>
            <a:cxnSpLocks/>
            <a:stCxn id="11" idx="1"/>
            <a:endCxn id="23" idx="3"/>
          </p:cNvCxnSpPr>
          <p:nvPr/>
        </p:nvCxnSpPr>
        <p:spPr>
          <a:xfrm flipH="1" flipV="1">
            <a:off x="5177936" y="2831671"/>
            <a:ext cx="534169" cy="616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F1AA8266-1273-4E62-BE2B-CF9C4423EE29}"/>
              </a:ext>
            </a:extLst>
          </p:cNvPr>
          <p:cNvCxnSpPr>
            <a:cxnSpLocks/>
            <a:stCxn id="11" idx="1"/>
            <a:endCxn id="22" idx="3"/>
          </p:cNvCxnSpPr>
          <p:nvPr/>
        </p:nvCxnSpPr>
        <p:spPr>
          <a:xfrm flipH="1">
            <a:off x="5177936" y="3448256"/>
            <a:ext cx="534169" cy="8194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A7D1AFAA-21F7-4EAE-85CE-8D0A33530D3F}"/>
              </a:ext>
            </a:extLst>
          </p:cNvPr>
          <p:cNvCxnSpPr>
            <a:cxnSpLocks/>
            <a:stCxn id="22" idx="1"/>
            <a:endCxn id="21" idx="3"/>
          </p:cNvCxnSpPr>
          <p:nvPr/>
        </p:nvCxnSpPr>
        <p:spPr>
          <a:xfrm flipH="1">
            <a:off x="2958718" y="4267661"/>
            <a:ext cx="989416" cy="933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B812A769-1A6E-43A7-93A3-41248ED73DA5}"/>
              </a:ext>
            </a:extLst>
          </p:cNvPr>
          <p:cNvCxnSpPr>
            <a:cxnSpLocks/>
            <a:stCxn id="22" idx="1"/>
            <a:endCxn id="19" idx="3"/>
          </p:cNvCxnSpPr>
          <p:nvPr/>
        </p:nvCxnSpPr>
        <p:spPr>
          <a:xfrm flipH="1">
            <a:off x="2958718" y="4267661"/>
            <a:ext cx="989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1A903055-4617-4775-9962-62511B186E76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 flipV="1">
            <a:off x="2968905" y="3295936"/>
            <a:ext cx="979229" cy="971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59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Vos arguments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Reprendre les arguments trouvés dans </a:t>
            </a:r>
            <a:br>
              <a:rPr lang="fr-CH" dirty="0"/>
            </a:br>
            <a:r>
              <a:rPr lang="fr-CH" dirty="0"/>
              <a:t>« l’invention »</a:t>
            </a:r>
          </a:p>
          <a:p>
            <a:r>
              <a:rPr lang="fr-CH" dirty="0"/>
              <a:t>Alterner : fort – moyen – fort</a:t>
            </a:r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14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1835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15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BC583BF-E9A6-41B7-A8A8-5DDBD50AE85F}"/>
              </a:ext>
            </a:extLst>
          </p:cNvPr>
          <p:cNvGrpSpPr/>
          <p:nvPr/>
        </p:nvGrpSpPr>
        <p:grpSpPr>
          <a:xfrm>
            <a:off x="838200" y="1902996"/>
            <a:ext cx="10515601" cy="3686126"/>
            <a:chOff x="838201" y="1902996"/>
            <a:chExt cx="10515601" cy="3686126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Exorde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Introduction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Narration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i="1" dirty="0">
                  <a:solidFill>
                    <a:srgbClr val="C00000"/>
                  </a:solidFill>
                </a:rPr>
                <a:t>(Les </a:t>
              </a:r>
              <a:r>
                <a:rPr lang="en-GB" sz="3200" b="1" i="1" dirty="0" err="1">
                  <a:solidFill>
                    <a:srgbClr val="C00000"/>
                  </a:solidFill>
                </a:rPr>
                <a:t>faits</a:t>
              </a:r>
              <a:r>
                <a:rPr lang="en-GB" sz="3200" b="1" i="1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Division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Annonce</a:t>
              </a:r>
              <a:r>
                <a:rPr lang="en-GB" sz="3200" b="1" dirty="0">
                  <a:solidFill>
                    <a:srgbClr val="C00000"/>
                  </a:solidFill>
                </a:rPr>
                <a:t> de la suite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Confirmation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Vos arguments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Réfutation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Les arguments de </a:t>
              </a:r>
              <a:r>
                <a:rPr lang="en-GB" sz="3200" b="1" dirty="0" err="1">
                  <a:solidFill>
                    <a:srgbClr val="C00000"/>
                  </a:solidFill>
                </a:rPr>
                <a:t>l’adversaire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48EDF20-8157-492F-BB76-33F8CE854400}"/>
                </a:ext>
              </a:extLst>
            </p:cNvPr>
            <p:cNvSpPr txBox="1"/>
            <p:nvPr/>
          </p:nvSpPr>
          <p:spPr>
            <a:xfrm>
              <a:off x="8037095" y="4974767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Péroraison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AE682BD-B24A-48D0-A030-33BA03D5E3DF}"/>
                </a:ext>
              </a:extLst>
            </p:cNvPr>
            <p:cNvSpPr txBox="1"/>
            <p:nvPr/>
          </p:nvSpPr>
          <p:spPr>
            <a:xfrm>
              <a:off x="838201" y="4974765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0212C8B1-A9BA-4954-B67B-1562ADAEE71A}"/>
              </a:ext>
            </a:extLst>
          </p:cNvPr>
          <p:cNvSpPr/>
          <p:nvPr/>
        </p:nvSpPr>
        <p:spPr>
          <a:xfrm>
            <a:off x="1711354" y="4251721"/>
            <a:ext cx="5427677" cy="831735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5361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Les arguments de l’adversaire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CH" dirty="0"/>
              <a:t>Répondre de manière anticipée</a:t>
            </a:r>
          </a:p>
          <a:p>
            <a:r>
              <a:rPr lang="fr-CH" dirty="0"/>
              <a:t>Dévoiler le sous-entendu :</a:t>
            </a:r>
          </a:p>
          <a:p>
            <a:pPr marL="457189" lvl="1" indent="0">
              <a:buNone/>
            </a:pPr>
            <a:r>
              <a:rPr lang="fr-CH" dirty="0" err="1"/>
              <a:t>MBappé</a:t>
            </a:r>
            <a:r>
              <a:rPr lang="fr-CH" dirty="0"/>
              <a:t> et journaliste : il ne tombe pas dans le piège de la polémique </a:t>
            </a:r>
            <a:r>
              <a:rPr lang="fr-CH" dirty="0">
                <a:hlinkClick r:id="rId2"/>
              </a:rPr>
              <a:t>https://www.youtube.com/watch?v=7Eut9lZ7Ycg&amp;ab_channel=EXCLUTV</a:t>
            </a:r>
            <a:r>
              <a:rPr lang="fr-CH" dirty="0"/>
              <a:t> </a:t>
            </a:r>
          </a:p>
          <a:p>
            <a:r>
              <a:rPr lang="fr-CH" dirty="0"/>
              <a:t>Formulation indirecte : pas de bac à sable !</a:t>
            </a:r>
          </a:p>
          <a:p>
            <a:pPr marL="457189" lvl="1" indent="0">
              <a:buNone/>
            </a:pPr>
            <a:r>
              <a:rPr lang="fr-CH" dirty="0"/>
              <a:t>VS-exemple : Grand Conseil (</a:t>
            </a:r>
            <a:r>
              <a:rPr lang="fr-CH" dirty="0">
                <a:hlinkClick r:id="rId3"/>
              </a:rPr>
              <a:t>https://www.youtube.com/watch?v=-GCRMzNc74w</a:t>
            </a:r>
            <a:r>
              <a:rPr lang="fr-CH" dirty="0"/>
              <a:t>) et Assemblée nationale (</a:t>
            </a:r>
            <a:r>
              <a:rPr lang="fr-CH" dirty="0">
                <a:hlinkClick r:id="rId4"/>
              </a:rPr>
              <a:t>https://www.youtube.com/watch?v=MJvkIh-7gy8</a:t>
            </a:r>
            <a:r>
              <a:rPr lang="fr-CH" dirty="0"/>
              <a:t>)</a:t>
            </a:r>
          </a:p>
          <a:p>
            <a:pPr marL="457189" lvl="1" indent="0">
              <a:buNone/>
            </a:pPr>
            <a:r>
              <a:rPr lang="fr-CH" dirty="0"/>
              <a:t>Étudiant, dès le début du discours (</a:t>
            </a:r>
            <a:r>
              <a:rPr lang="fr-CH" dirty="0">
                <a:hlinkClick r:id="rId5"/>
              </a:rPr>
              <a:t>https://youtu.be/yq8nIH8yqOs</a:t>
            </a:r>
            <a:r>
              <a:rPr lang="fr-CH" dirty="0"/>
              <a:t>)</a:t>
            </a:r>
          </a:p>
          <a:p>
            <a:r>
              <a:rPr lang="fr-CH" dirty="0"/>
              <a:t>Marcon vs Le Pen :</a:t>
            </a:r>
          </a:p>
          <a:p>
            <a:pPr marL="457189" lvl="1" indent="0">
              <a:buNone/>
            </a:pPr>
            <a:r>
              <a:rPr lang="fr-CH" dirty="0">
                <a:hlinkClick r:id="rId6"/>
              </a:rPr>
              <a:t>https://youtu.be/dp4I9DIK_pk?t=4</a:t>
            </a:r>
            <a:r>
              <a:rPr lang="fr-CH" dirty="0"/>
              <a:t> </a:t>
            </a: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16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80000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Les arguments de l’adversaire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Exercices</a:t>
            </a:r>
          </a:p>
          <a:p>
            <a:pPr marL="0" indent="0">
              <a:buNone/>
            </a:pPr>
            <a:endParaRPr lang="fr-CH" dirty="0">
              <a:highlight>
                <a:srgbClr val="FFFF00"/>
              </a:highlight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17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5656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4E8A1-589E-4B6D-8C69-6BB62289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Structure : six étapes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114874-2F3C-4285-90C5-88E6CF3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 dirty="0"/>
              <a:t>Nicolas Gurtner ©                                              Convaincre : la puissance du discours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F75D7A-4753-4CA9-A7AD-6C29F4BF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18</a:t>
            </a:fld>
            <a:endParaRPr lang="fr-CH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EBC583BF-E9A6-41B7-A8A8-5DDBD50AE85F}"/>
              </a:ext>
            </a:extLst>
          </p:cNvPr>
          <p:cNvGrpSpPr/>
          <p:nvPr/>
        </p:nvGrpSpPr>
        <p:grpSpPr>
          <a:xfrm>
            <a:off x="838200" y="1902996"/>
            <a:ext cx="10515601" cy="3686126"/>
            <a:chOff x="838201" y="1902996"/>
            <a:chExt cx="10515601" cy="3686126"/>
          </a:xfrm>
        </p:grpSpPr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8172E0C0-A286-4FC7-ACC5-496CD52BF495}"/>
                </a:ext>
              </a:extLst>
            </p:cNvPr>
            <p:cNvSpPr txBox="1"/>
            <p:nvPr/>
          </p:nvSpPr>
          <p:spPr>
            <a:xfrm>
              <a:off x="8037095" y="1902998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Exorde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D6BA731B-6DE5-4DCA-AA06-7530D35F8379}"/>
                </a:ext>
              </a:extLst>
            </p:cNvPr>
            <p:cNvSpPr txBox="1"/>
            <p:nvPr/>
          </p:nvSpPr>
          <p:spPr>
            <a:xfrm>
              <a:off x="838201" y="1902996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Introduction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5958BBC-4638-4EFA-8930-404457DFA0B8}"/>
                </a:ext>
              </a:extLst>
            </p:cNvPr>
            <p:cNvSpPr txBox="1"/>
            <p:nvPr/>
          </p:nvSpPr>
          <p:spPr>
            <a:xfrm>
              <a:off x="8037095" y="2517351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Narration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56F7278-FB0A-49DB-9957-5E526397C238}"/>
                </a:ext>
              </a:extLst>
            </p:cNvPr>
            <p:cNvSpPr txBox="1"/>
            <p:nvPr/>
          </p:nvSpPr>
          <p:spPr>
            <a:xfrm>
              <a:off x="838201" y="2517349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i="1" dirty="0">
                  <a:solidFill>
                    <a:srgbClr val="C00000"/>
                  </a:solidFill>
                </a:rPr>
                <a:t>(Les </a:t>
              </a:r>
              <a:r>
                <a:rPr lang="en-GB" sz="3200" b="1" i="1" dirty="0" err="1">
                  <a:solidFill>
                    <a:srgbClr val="C00000"/>
                  </a:solidFill>
                </a:rPr>
                <a:t>faits</a:t>
              </a:r>
              <a:r>
                <a:rPr lang="en-GB" sz="3200" b="1" i="1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70939E53-1C05-4C63-8912-441C5C0BC61C}"/>
                </a:ext>
              </a:extLst>
            </p:cNvPr>
            <p:cNvSpPr txBox="1"/>
            <p:nvPr/>
          </p:nvSpPr>
          <p:spPr>
            <a:xfrm>
              <a:off x="8037095" y="3131706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Division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E86E0D0-BB0C-490A-8041-910C9E312F9C}"/>
                </a:ext>
              </a:extLst>
            </p:cNvPr>
            <p:cNvSpPr txBox="1"/>
            <p:nvPr/>
          </p:nvSpPr>
          <p:spPr>
            <a:xfrm>
              <a:off x="838201" y="3131704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 err="1">
                  <a:solidFill>
                    <a:srgbClr val="C00000"/>
                  </a:solidFill>
                </a:rPr>
                <a:t>Annonce</a:t>
              </a:r>
              <a:r>
                <a:rPr lang="en-GB" sz="3200" b="1" dirty="0">
                  <a:solidFill>
                    <a:srgbClr val="C00000"/>
                  </a:solidFill>
                </a:rPr>
                <a:t> de la suite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F5726B1F-4DF3-4E05-B62D-EA42BAD17BED}"/>
                </a:ext>
              </a:extLst>
            </p:cNvPr>
            <p:cNvSpPr txBox="1"/>
            <p:nvPr/>
          </p:nvSpPr>
          <p:spPr>
            <a:xfrm>
              <a:off x="8037095" y="3746059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>
                  <a:solidFill>
                    <a:schemeClr val="bg1"/>
                  </a:solidFill>
                </a:rPr>
                <a:t>Confirmation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F9C6132-BB18-460D-AE81-5CA707ADDE58}"/>
                </a:ext>
              </a:extLst>
            </p:cNvPr>
            <p:cNvSpPr txBox="1"/>
            <p:nvPr/>
          </p:nvSpPr>
          <p:spPr>
            <a:xfrm>
              <a:off x="838201" y="3746057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Vos arguments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1237AF2-A576-49D4-B3FA-357A0CB92BD2}"/>
                </a:ext>
              </a:extLst>
            </p:cNvPr>
            <p:cNvSpPr txBox="1"/>
            <p:nvPr/>
          </p:nvSpPr>
          <p:spPr>
            <a:xfrm>
              <a:off x="8037095" y="4360414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Réfutation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75F060-CCD9-4C7E-B93C-36AD7D1064B6}"/>
                </a:ext>
              </a:extLst>
            </p:cNvPr>
            <p:cNvSpPr txBox="1"/>
            <p:nvPr/>
          </p:nvSpPr>
          <p:spPr>
            <a:xfrm>
              <a:off x="838201" y="4360412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Les arguments de </a:t>
              </a:r>
              <a:r>
                <a:rPr lang="en-GB" sz="3200" b="1" dirty="0" err="1">
                  <a:solidFill>
                    <a:srgbClr val="C00000"/>
                  </a:solidFill>
                </a:rPr>
                <a:t>l’adversaire</a:t>
              </a:r>
              <a:endParaRPr lang="en-GB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448EDF20-8157-492F-BB76-33F8CE854400}"/>
                </a:ext>
              </a:extLst>
            </p:cNvPr>
            <p:cNvSpPr txBox="1"/>
            <p:nvPr/>
          </p:nvSpPr>
          <p:spPr>
            <a:xfrm>
              <a:off x="8037095" y="4974767"/>
              <a:ext cx="3316707" cy="614355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dirty="0" err="1">
                  <a:solidFill>
                    <a:schemeClr val="bg1"/>
                  </a:solidFill>
                </a:rPr>
                <a:t>Péroraison</a:t>
              </a:r>
              <a:endParaRPr lang="en-GB" sz="3200" dirty="0">
                <a:solidFill>
                  <a:schemeClr val="bg1"/>
                </a:solidFill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8AE682BD-B24A-48D0-A030-33BA03D5E3DF}"/>
                </a:ext>
              </a:extLst>
            </p:cNvPr>
            <p:cNvSpPr txBox="1"/>
            <p:nvPr/>
          </p:nvSpPr>
          <p:spPr>
            <a:xfrm>
              <a:off x="838201" y="4974765"/>
              <a:ext cx="7198895" cy="614355"/>
            </a:xfrm>
            <a:prstGeom prst="rect">
              <a:avLst/>
            </a:prstGeom>
            <a:noFill/>
            <a:ln>
              <a:solidFill>
                <a:srgbClr val="A91C20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GB" sz="3200" b="1" dirty="0">
                  <a:solidFill>
                    <a:srgbClr val="C00000"/>
                  </a:solidFill>
                </a:rPr>
                <a:t>Conclusion</a:t>
              </a:r>
            </a:p>
          </p:txBody>
        </p:sp>
      </p:grpSp>
      <p:sp>
        <p:nvSpPr>
          <p:cNvPr id="16" name="Ellipse 15">
            <a:extLst>
              <a:ext uri="{FF2B5EF4-FFF2-40B4-BE49-F238E27FC236}">
                <a16:creationId xmlns:a16="http://schemas.microsoft.com/office/drawing/2014/main" id="{0212C8B1-A9BA-4954-B67B-1562ADAEE71A}"/>
              </a:ext>
            </a:extLst>
          </p:cNvPr>
          <p:cNvSpPr/>
          <p:nvPr/>
        </p:nvSpPr>
        <p:spPr>
          <a:xfrm>
            <a:off x="3246539" y="4866074"/>
            <a:ext cx="2340529" cy="831735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9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H" dirty="0"/>
              <a:t>Le plus important !</a:t>
            </a:r>
          </a:p>
          <a:p>
            <a:r>
              <a:rPr lang="fr-CH" dirty="0"/>
              <a:t>Comment s’y prendre</a:t>
            </a:r>
          </a:p>
          <a:p>
            <a:pPr lvl="1"/>
            <a:r>
              <a:rPr lang="fr-CH" dirty="0"/>
              <a:t>Résumer / récapituler</a:t>
            </a:r>
          </a:p>
          <a:p>
            <a:pPr lvl="1"/>
            <a:r>
              <a:rPr lang="fr-CH" dirty="0"/>
              <a:t>Ouvrir une question plus large</a:t>
            </a:r>
          </a:p>
          <a:p>
            <a:pPr lvl="1"/>
            <a:r>
              <a:rPr lang="fr-CH" dirty="0"/>
              <a:t>Fin mémorable</a:t>
            </a:r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19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21880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 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8407A7-8EA4-4C16-B2E3-A827279F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fr-CH" dirty="0"/>
              <a:t>Exemple : </a:t>
            </a:r>
          </a:p>
          <a:p>
            <a:pPr lvl="2"/>
            <a:r>
              <a:rPr lang="fr-CH" dirty="0"/>
              <a:t>Macron </a:t>
            </a:r>
            <a:r>
              <a:rPr lang="fr-CH" dirty="0">
                <a:hlinkClick r:id="rId2"/>
              </a:rPr>
              <a:t>https://youtu.be/L9S_WF_YlkM?t=722</a:t>
            </a:r>
            <a:r>
              <a:rPr lang="fr-CH" dirty="0"/>
              <a:t> </a:t>
            </a:r>
          </a:p>
          <a:p>
            <a:pPr lvl="2"/>
            <a:r>
              <a:rPr lang="fr-CH" dirty="0"/>
              <a:t>Kennedy  (Berlin) </a:t>
            </a:r>
            <a:r>
              <a:rPr lang="fr-CH" dirty="0">
                <a:hlinkClick r:id="rId3"/>
              </a:rPr>
              <a:t>https://youtu.be/ICFu-TW6988?si=GrhiM5SuNHIU0mZZ&amp;t=259</a:t>
            </a:r>
            <a:r>
              <a:rPr lang="fr-CH" dirty="0"/>
              <a:t> </a:t>
            </a:r>
          </a:p>
          <a:p>
            <a:pPr lvl="1"/>
            <a:endParaRPr lang="fr-CH" dirty="0"/>
          </a:p>
          <a:p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20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57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0A4587-764B-4FD7-9633-6C71C3AF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Si on a une heure à disposition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702B8B-56C2-411F-BC3C-8FA5AECD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A2B568-E00F-4792-AECC-0343C7E5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21</a:t>
            </a:fld>
            <a:endParaRPr lang="fr-CH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188C75E-24E0-4BCB-9FC9-3EED5AF2CED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289" y="1445587"/>
            <a:ext cx="7163421" cy="46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528BB2-FC4E-493B-8429-16E93A75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Exercices finaux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170FB2-4E63-4D3E-9ACD-CF18E776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Nicolas Gurtner ©                                              Convaincre : la puissance du discours</a:t>
            </a:r>
            <a:endParaRPr lang="fr-CH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6FC952E-4720-41CF-A303-D3A036CE2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A63AE-B855-4AA0-8314-7442D6EB9464}" type="slidenum">
              <a:rPr lang="fr-CH" smtClean="0"/>
              <a:pPr/>
              <a:t>22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8116888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Rouge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668</TotalTime>
  <Words>863</Words>
  <Application>Microsoft Office PowerPoint</Application>
  <PresentationFormat>Grand écran</PresentationFormat>
  <Paragraphs>207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Thème Office</vt:lpstr>
      <vt:lpstr>LA PAROLE EST UNE VOIE</vt:lpstr>
      <vt:lpstr>Feuille de route</vt:lpstr>
      <vt:lpstr>Structure : six étapes</vt:lpstr>
      <vt:lpstr>Introduction</vt:lpstr>
      <vt:lpstr>Introduction</vt:lpstr>
      <vt:lpstr>Introduction</vt:lpstr>
      <vt:lpstr>Introduction</vt:lpstr>
      <vt:lpstr>Structure : six étapes</vt:lpstr>
      <vt:lpstr>Les faits</vt:lpstr>
      <vt:lpstr>Structure : six étapes</vt:lpstr>
      <vt:lpstr>Annonce de la suite (division)</vt:lpstr>
      <vt:lpstr>Structure : six étapes</vt:lpstr>
      <vt:lpstr>Vos arguments</vt:lpstr>
      <vt:lpstr>Vos arguments</vt:lpstr>
      <vt:lpstr>Structure : six étapes</vt:lpstr>
      <vt:lpstr>Les arguments de l’adversaire</vt:lpstr>
      <vt:lpstr>Les arguments de l’adversaire</vt:lpstr>
      <vt:lpstr>Structure : six étapes</vt:lpstr>
      <vt:lpstr>La conclusion</vt:lpstr>
      <vt:lpstr>La conclusion</vt:lpstr>
      <vt:lpstr>Si on a une heure à disposition</vt:lpstr>
      <vt:lpstr>Exercices finaux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RHÉTORIQUE</dc:title>
  <dc:creator>Nicolas Gurtner</dc:creator>
  <cp:lastModifiedBy>Nicolas Gurtner</cp:lastModifiedBy>
  <cp:revision>158</cp:revision>
  <cp:lastPrinted>2024-02-15T15:10:03Z</cp:lastPrinted>
  <dcterms:created xsi:type="dcterms:W3CDTF">2018-08-13T17:42:36Z</dcterms:created>
  <dcterms:modified xsi:type="dcterms:W3CDTF">2024-02-15T15:10:08Z</dcterms:modified>
</cp:coreProperties>
</file>